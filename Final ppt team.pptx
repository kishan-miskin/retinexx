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70" r:id="rId1"/>
  </p:sldMasterIdLst>
  <p:notesMasterIdLst>
    <p:notesMasterId r:id="rId23"/>
  </p:notesMasterIdLst>
  <p:sldIdLst>
    <p:sldId id="342" r:id="rId2"/>
    <p:sldId id="312" r:id="rId3"/>
    <p:sldId id="309" r:id="rId4"/>
    <p:sldId id="345" r:id="rId5"/>
    <p:sldId id="355" r:id="rId6"/>
    <p:sldId id="353" r:id="rId7"/>
    <p:sldId id="367" r:id="rId8"/>
    <p:sldId id="356" r:id="rId9"/>
    <p:sldId id="357" r:id="rId10"/>
    <p:sldId id="358" r:id="rId11"/>
    <p:sldId id="349" r:id="rId12"/>
    <p:sldId id="359" r:id="rId13"/>
    <p:sldId id="360" r:id="rId14"/>
    <p:sldId id="365" r:id="rId15"/>
    <p:sldId id="366" r:id="rId16"/>
    <p:sldId id="361" r:id="rId17"/>
    <p:sldId id="362" r:id="rId18"/>
    <p:sldId id="363" r:id="rId19"/>
    <p:sldId id="352" r:id="rId20"/>
    <p:sldId id="364" r:id="rId21"/>
    <p:sldId id="305"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9B"/>
    <a:srgbClr val="D8BEEC"/>
    <a:srgbClr val="FF7979"/>
    <a:srgbClr val="69FFAD"/>
    <a:srgbClr val="5648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varScale="1">
        <p:scale>
          <a:sx n="82" d="100"/>
          <a:sy n="82" d="100"/>
        </p:scale>
        <p:origin x="715" y="72"/>
      </p:cViewPr>
      <p:guideLst>
        <p:guide orient="horz" pos="2160"/>
        <p:guide pos="3840"/>
      </p:guideLst>
    </p:cSldViewPr>
  </p:slideViewPr>
  <p:notesTextViewPr>
    <p:cViewPr>
      <p:scale>
        <a:sx n="1" d="1"/>
        <a:sy n="1" d="1"/>
      </p:scale>
      <p:origin x="0" y="0"/>
    </p:cViewPr>
  </p:notesTextViewPr>
  <p:sorterViewPr>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9FE798-1055-EE0A-E488-107824C50A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2B4C2983-FC16-219C-3C8D-430B2BB8F92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297C55FB-4EC3-47C0-A338-320C813CE085}" type="datetimeFigureOut">
              <a:rPr lang="en-IN"/>
              <a:pPr>
                <a:defRPr/>
              </a:pPr>
              <a:t>08-01-2026</a:t>
            </a:fld>
            <a:endParaRPr lang="en-IN"/>
          </a:p>
        </p:txBody>
      </p:sp>
      <p:sp>
        <p:nvSpPr>
          <p:cNvPr id="4" name="Slide Image Placeholder 3">
            <a:extLst>
              <a:ext uri="{FF2B5EF4-FFF2-40B4-BE49-F238E27FC236}">
                <a16:creationId xmlns:a16="http://schemas.microsoft.com/office/drawing/2014/main" id="{A0C5A22E-F092-9910-7F00-ECA60513F7B7}"/>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AB9AAAA9-5745-BAD2-2E52-28AB4AEACA6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EB0EE96B-6B87-E5E6-E3B0-87BDC9F50E3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827F11F5-CDDD-8551-EACD-C5D904521BF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F01830A-A494-43CF-9D20-7BD579E6F93F}"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43ECE5-840E-0D50-0D65-43E8BC1CB1AA}"/>
              </a:ext>
            </a:extLst>
          </p:cNvPr>
          <p:cNvSpPr>
            <a:spLocks noGrp="1"/>
          </p:cNvSpPr>
          <p:nvPr>
            <p:ph type="dt" sz="half" idx="10"/>
          </p:nvPr>
        </p:nvSpPr>
        <p:spPr/>
        <p:txBody>
          <a:bodyPr/>
          <a:lstStyle>
            <a:lvl1pPr>
              <a:defRPr/>
            </a:lvl1pPr>
          </a:lstStyle>
          <a:p>
            <a:pPr>
              <a:defRPr/>
            </a:pPr>
            <a:fld id="{BD2C7340-6E0E-4455-A46D-C0694C2F568D}" type="datetime1">
              <a:rPr lang="en-US"/>
              <a:pPr>
                <a:defRPr/>
              </a:pPr>
              <a:t>1/8/2026</a:t>
            </a:fld>
            <a:endParaRPr lang="en-US"/>
          </a:p>
        </p:txBody>
      </p:sp>
      <p:sp>
        <p:nvSpPr>
          <p:cNvPr id="5" name="Footer Placeholder 4">
            <a:extLst>
              <a:ext uri="{FF2B5EF4-FFF2-40B4-BE49-F238E27FC236}">
                <a16:creationId xmlns:a16="http://schemas.microsoft.com/office/drawing/2014/main" id="{A669E686-112B-9E4D-B724-FC942DD9DBA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258292B-EE58-7D87-0E47-FE195ABDAB0A}"/>
              </a:ext>
            </a:extLst>
          </p:cNvPr>
          <p:cNvSpPr>
            <a:spLocks noGrp="1"/>
          </p:cNvSpPr>
          <p:nvPr>
            <p:ph type="sldNum" sz="quarter" idx="12"/>
          </p:nvPr>
        </p:nvSpPr>
        <p:spPr/>
        <p:txBody>
          <a:bodyPr/>
          <a:lstStyle>
            <a:lvl1pPr>
              <a:defRPr/>
            </a:lvl1pPr>
          </a:lstStyle>
          <a:p>
            <a:pPr>
              <a:defRPr/>
            </a:pPr>
            <a:fld id="{3883A0E3-6045-48D3-9E59-A8B24A243DF3}" type="slidenum">
              <a:rPr lang="en-US" altLang="en-US"/>
              <a:pPr>
                <a:defRPr/>
              </a:pPr>
              <a:t>‹#›</a:t>
            </a:fld>
            <a:endParaRPr lang="en-US" altLang="en-US"/>
          </a:p>
        </p:txBody>
      </p:sp>
    </p:spTree>
    <p:extLst>
      <p:ext uri="{BB962C8B-B14F-4D97-AF65-F5344CB8AC3E}">
        <p14:creationId xmlns:p14="http://schemas.microsoft.com/office/powerpoint/2010/main" val="3167637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508B55-9D8B-B776-2A79-56C5F4E26024}"/>
              </a:ext>
            </a:extLst>
          </p:cNvPr>
          <p:cNvSpPr>
            <a:spLocks noGrp="1"/>
          </p:cNvSpPr>
          <p:nvPr>
            <p:ph type="dt" sz="half" idx="10"/>
          </p:nvPr>
        </p:nvSpPr>
        <p:spPr/>
        <p:txBody>
          <a:bodyPr/>
          <a:lstStyle>
            <a:lvl1pPr>
              <a:defRPr/>
            </a:lvl1pPr>
          </a:lstStyle>
          <a:p>
            <a:pPr>
              <a:defRPr/>
            </a:pPr>
            <a:fld id="{316D0323-47A1-4CBA-A7A6-047F6ED8E5FE}" type="datetime1">
              <a:rPr lang="en-US"/>
              <a:pPr>
                <a:defRPr/>
              </a:pPr>
              <a:t>1/8/2026</a:t>
            </a:fld>
            <a:endParaRPr lang="en-US"/>
          </a:p>
        </p:txBody>
      </p:sp>
      <p:sp>
        <p:nvSpPr>
          <p:cNvPr id="5" name="Footer Placeholder 4">
            <a:extLst>
              <a:ext uri="{FF2B5EF4-FFF2-40B4-BE49-F238E27FC236}">
                <a16:creationId xmlns:a16="http://schemas.microsoft.com/office/drawing/2014/main" id="{9A12D371-55E4-490E-05EC-56D4C0FEF0B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0C33697-7E99-7597-0B11-883AEBB3E949}"/>
              </a:ext>
            </a:extLst>
          </p:cNvPr>
          <p:cNvSpPr>
            <a:spLocks noGrp="1"/>
          </p:cNvSpPr>
          <p:nvPr>
            <p:ph type="sldNum" sz="quarter" idx="12"/>
          </p:nvPr>
        </p:nvSpPr>
        <p:spPr/>
        <p:txBody>
          <a:bodyPr/>
          <a:lstStyle>
            <a:lvl1pPr>
              <a:defRPr/>
            </a:lvl1pPr>
          </a:lstStyle>
          <a:p>
            <a:pPr>
              <a:defRPr/>
            </a:pPr>
            <a:fld id="{45FA3DB3-7000-46D7-8858-7CC600A9A651}" type="slidenum">
              <a:rPr lang="en-US" altLang="en-US"/>
              <a:pPr>
                <a:defRPr/>
              </a:pPr>
              <a:t>‹#›</a:t>
            </a:fld>
            <a:endParaRPr lang="en-US" altLang="en-US"/>
          </a:p>
        </p:txBody>
      </p:sp>
    </p:spTree>
    <p:extLst>
      <p:ext uri="{BB962C8B-B14F-4D97-AF65-F5344CB8AC3E}">
        <p14:creationId xmlns:p14="http://schemas.microsoft.com/office/powerpoint/2010/main" val="2368258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DF1B1A-1E5C-E746-754B-35A4EE7577ED}"/>
              </a:ext>
            </a:extLst>
          </p:cNvPr>
          <p:cNvSpPr>
            <a:spLocks noGrp="1"/>
          </p:cNvSpPr>
          <p:nvPr>
            <p:ph type="dt" sz="half" idx="10"/>
          </p:nvPr>
        </p:nvSpPr>
        <p:spPr/>
        <p:txBody>
          <a:bodyPr/>
          <a:lstStyle>
            <a:lvl1pPr>
              <a:defRPr/>
            </a:lvl1pPr>
          </a:lstStyle>
          <a:p>
            <a:pPr>
              <a:defRPr/>
            </a:pPr>
            <a:fld id="{5DBA9DFE-D9AE-4746-86AF-9EBBC1D18FD2}" type="datetime1">
              <a:rPr lang="en-US"/>
              <a:pPr>
                <a:defRPr/>
              </a:pPr>
              <a:t>1/8/2026</a:t>
            </a:fld>
            <a:endParaRPr lang="en-US"/>
          </a:p>
        </p:txBody>
      </p:sp>
      <p:sp>
        <p:nvSpPr>
          <p:cNvPr id="5" name="Footer Placeholder 4">
            <a:extLst>
              <a:ext uri="{FF2B5EF4-FFF2-40B4-BE49-F238E27FC236}">
                <a16:creationId xmlns:a16="http://schemas.microsoft.com/office/drawing/2014/main" id="{2EF0BA16-6F75-0C85-9E83-CECD4A92BA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5E803B-9EA5-6CCE-3B03-3ADBBF891DA6}"/>
              </a:ext>
            </a:extLst>
          </p:cNvPr>
          <p:cNvSpPr>
            <a:spLocks noGrp="1"/>
          </p:cNvSpPr>
          <p:nvPr>
            <p:ph type="sldNum" sz="quarter" idx="12"/>
          </p:nvPr>
        </p:nvSpPr>
        <p:spPr/>
        <p:txBody>
          <a:bodyPr/>
          <a:lstStyle>
            <a:lvl1pPr>
              <a:defRPr/>
            </a:lvl1pPr>
          </a:lstStyle>
          <a:p>
            <a:pPr>
              <a:defRPr/>
            </a:pPr>
            <a:fld id="{F7E9A1E1-7646-4A99-ADBA-02B1991F68D2}" type="slidenum">
              <a:rPr lang="en-US" altLang="en-US"/>
              <a:pPr>
                <a:defRPr/>
              </a:pPr>
              <a:t>‹#›</a:t>
            </a:fld>
            <a:endParaRPr lang="en-US" altLang="en-US"/>
          </a:p>
        </p:txBody>
      </p:sp>
    </p:spTree>
    <p:extLst>
      <p:ext uri="{BB962C8B-B14F-4D97-AF65-F5344CB8AC3E}">
        <p14:creationId xmlns:p14="http://schemas.microsoft.com/office/powerpoint/2010/main" val="406852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35C36961-4115-BE82-81C4-C3B5A5AB07A8}"/>
              </a:ext>
            </a:extLst>
          </p:cNvPr>
          <p:cNvSpPr>
            <a:spLocks noGrp="1"/>
          </p:cNvSpPr>
          <p:nvPr>
            <p:ph type="dt" sz="half" idx="10"/>
          </p:nvPr>
        </p:nvSpPr>
        <p:spPr/>
        <p:txBody>
          <a:bodyPr/>
          <a:lstStyle>
            <a:lvl1pPr>
              <a:defRPr/>
            </a:lvl1pPr>
          </a:lstStyle>
          <a:p>
            <a:pPr>
              <a:defRPr/>
            </a:pPr>
            <a:fld id="{8E537502-CF56-4D39-919B-704040108DEE}" type="datetime1">
              <a:rPr lang="en-US"/>
              <a:pPr>
                <a:defRPr/>
              </a:pPr>
              <a:t>1/8/2026</a:t>
            </a:fld>
            <a:endParaRPr lang="en-US"/>
          </a:p>
        </p:txBody>
      </p:sp>
      <p:sp>
        <p:nvSpPr>
          <p:cNvPr id="6" name="Footer Placeholder 4">
            <a:extLst>
              <a:ext uri="{FF2B5EF4-FFF2-40B4-BE49-F238E27FC236}">
                <a16:creationId xmlns:a16="http://schemas.microsoft.com/office/drawing/2014/main" id="{AA0066E2-3E65-4A7C-71AC-E1920A36C76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E3E4DCB-E1DB-8925-8BE9-FAA00B601CB2}"/>
              </a:ext>
            </a:extLst>
          </p:cNvPr>
          <p:cNvSpPr>
            <a:spLocks noGrp="1"/>
          </p:cNvSpPr>
          <p:nvPr>
            <p:ph type="sldNum" sz="quarter" idx="12"/>
          </p:nvPr>
        </p:nvSpPr>
        <p:spPr/>
        <p:txBody>
          <a:bodyPr/>
          <a:lstStyle>
            <a:lvl1pPr>
              <a:defRPr/>
            </a:lvl1pPr>
          </a:lstStyle>
          <a:p>
            <a:pPr>
              <a:defRPr/>
            </a:pPr>
            <a:fld id="{E68DE2F1-85F5-4E86-BD24-0972BBFE721B}" type="slidenum">
              <a:rPr lang="en-US" altLang="en-US"/>
              <a:pPr>
                <a:defRPr/>
              </a:pPr>
              <a:t>‹#›</a:t>
            </a:fld>
            <a:endParaRPr lang="en-US" altLang="en-US"/>
          </a:p>
        </p:txBody>
      </p:sp>
    </p:spTree>
    <p:extLst>
      <p:ext uri="{BB962C8B-B14F-4D97-AF65-F5344CB8AC3E}">
        <p14:creationId xmlns:p14="http://schemas.microsoft.com/office/powerpoint/2010/main" val="141864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3F3707F2-5C4C-C005-5953-CFCDC7398D38}"/>
              </a:ext>
            </a:extLst>
          </p:cNvPr>
          <p:cNvSpPr>
            <a:spLocks noGrp="1"/>
          </p:cNvSpPr>
          <p:nvPr>
            <p:ph type="dt" sz="half" idx="10"/>
          </p:nvPr>
        </p:nvSpPr>
        <p:spPr/>
        <p:txBody>
          <a:bodyPr/>
          <a:lstStyle>
            <a:lvl1pPr>
              <a:defRPr/>
            </a:lvl1pPr>
          </a:lstStyle>
          <a:p>
            <a:pPr>
              <a:defRPr/>
            </a:pPr>
            <a:fld id="{05A96BFD-67F0-4BB9-A09C-4520758953D1}" type="datetime1">
              <a:rPr lang="en-US"/>
              <a:pPr>
                <a:defRPr/>
              </a:pPr>
              <a:t>1/8/2026</a:t>
            </a:fld>
            <a:endParaRPr lang="en-US"/>
          </a:p>
        </p:txBody>
      </p:sp>
      <p:sp>
        <p:nvSpPr>
          <p:cNvPr id="8" name="Footer Placeholder 4">
            <a:extLst>
              <a:ext uri="{FF2B5EF4-FFF2-40B4-BE49-F238E27FC236}">
                <a16:creationId xmlns:a16="http://schemas.microsoft.com/office/drawing/2014/main" id="{88AF74C1-7424-F0D2-F56C-94829831F06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62B3924-2574-DB5B-8FF8-BA175DB4E1CB}"/>
              </a:ext>
            </a:extLst>
          </p:cNvPr>
          <p:cNvSpPr>
            <a:spLocks noGrp="1"/>
          </p:cNvSpPr>
          <p:nvPr>
            <p:ph type="sldNum" sz="quarter" idx="12"/>
          </p:nvPr>
        </p:nvSpPr>
        <p:spPr/>
        <p:txBody>
          <a:bodyPr/>
          <a:lstStyle>
            <a:lvl1pPr>
              <a:defRPr/>
            </a:lvl1pPr>
          </a:lstStyle>
          <a:p>
            <a:pPr>
              <a:defRPr/>
            </a:pPr>
            <a:fld id="{BDF66547-57A3-4ADB-ADF1-7F3DC4A653B4}" type="slidenum">
              <a:rPr lang="en-US" altLang="en-US"/>
              <a:pPr>
                <a:defRPr/>
              </a:pPr>
              <a:t>‹#›</a:t>
            </a:fld>
            <a:endParaRPr lang="en-US" altLang="en-US"/>
          </a:p>
        </p:txBody>
      </p:sp>
    </p:spTree>
    <p:extLst>
      <p:ext uri="{BB962C8B-B14F-4D97-AF65-F5344CB8AC3E}">
        <p14:creationId xmlns:p14="http://schemas.microsoft.com/office/powerpoint/2010/main" val="4170969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15DB541A-9DCF-C526-C699-73007836AF83}"/>
              </a:ext>
            </a:extLst>
          </p:cNvPr>
          <p:cNvSpPr>
            <a:spLocks noGrp="1"/>
          </p:cNvSpPr>
          <p:nvPr>
            <p:ph type="dt" sz="half" idx="10"/>
          </p:nvPr>
        </p:nvSpPr>
        <p:spPr/>
        <p:txBody>
          <a:bodyPr/>
          <a:lstStyle>
            <a:lvl1pPr>
              <a:defRPr/>
            </a:lvl1pPr>
          </a:lstStyle>
          <a:p>
            <a:pPr>
              <a:defRPr/>
            </a:pPr>
            <a:fld id="{E976A3E9-199A-4F7B-A74D-C2F2565075BF}" type="datetime1">
              <a:rPr lang="en-US"/>
              <a:pPr>
                <a:defRPr/>
              </a:pPr>
              <a:t>1/8/2026</a:t>
            </a:fld>
            <a:endParaRPr lang="en-US"/>
          </a:p>
        </p:txBody>
      </p:sp>
      <p:sp>
        <p:nvSpPr>
          <p:cNvPr id="4" name="Footer Placeholder 4">
            <a:extLst>
              <a:ext uri="{FF2B5EF4-FFF2-40B4-BE49-F238E27FC236}">
                <a16:creationId xmlns:a16="http://schemas.microsoft.com/office/drawing/2014/main" id="{FAE73A60-6550-8F76-DA88-74EA8A58E6B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B0AA996-BB62-D344-6DAA-732A06CE51FE}"/>
              </a:ext>
            </a:extLst>
          </p:cNvPr>
          <p:cNvSpPr>
            <a:spLocks noGrp="1"/>
          </p:cNvSpPr>
          <p:nvPr>
            <p:ph type="sldNum" sz="quarter" idx="12"/>
          </p:nvPr>
        </p:nvSpPr>
        <p:spPr/>
        <p:txBody>
          <a:bodyPr/>
          <a:lstStyle>
            <a:lvl1pPr>
              <a:defRPr/>
            </a:lvl1pPr>
          </a:lstStyle>
          <a:p>
            <a:pPr>
              <a:defRPr/>
            </a:pPr>
            <a:fld id="{8132817A-4A07-4D67-B1DE-5EEC1EFE02BC}" type="slidenum">
              <a:rPr lang="en-US" altLang="en-US"/>
              <a:pPr>
                <a:defRPr/>
              </a:pPr>
              <a:t>‹#›</a:t>
            </a:fld>
            <a:endParaRPr lang="en-US" altLang="en-US"/>
          </a:p>
        </p:txBody>
      </p:sp>
    </p:spTree>
    <p:extLst>
      <p:ext uri="{BB962C8B-B14F-4D97-AF65-F5344CB8AC3E}">
        <p14:creationId xmlns:p14="http://schemas.microsoft.com/office/powerpoint/2010/main" val="153916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2B27D9C-26EA-134B-3537-30AA5E41B62A}"/>
              </a:ext>
            </a:extLst>
          </p:cNvPr>
          <p:cNvSpPr>
            <a:spLocks noGrp="1"/>
          </p:cNvSpPr>
          <p:nvPr>
            <p:ph type="dt" sz="half" idx="10"/>
          </p:nvPr>
        </p:nvSpPr>
        <p:spPr/>
        <p:txBody>
          <a:bodyPr/>
          <a:lstStyle>
            <a:lvl1pPr>
              <a:defRPr/>
            </a:lvl1pPr>
          </a:lstStyle>
          <a:p>
            <a:pPr>
              <a:defRPr/>
            </a:pPr>
            <a:fld id="{B2C6EB80-EDE8-438C-8CA5-BE3797D1555D}" type="datetime1">
              <a:rPr lang="en-US"/>
              <a:pPr>
                <a:defRPr/>
              </a:pPr>
              <a:t>1/8/2026</a:t>
            </a:fld>
            <a:endParaRPr lang="en-US"/>
          </a:p>
        </p:txBody>
      </p:sp>
      <p:sp>
        <p:nvSpPr>
          <p:cNvPr id="3" name="Footer Placeholder 4">
            <a:extLst>
              <a:ext uri="{FF2B5EF4-FFF2-40B4-BE49-F238E27FC236}">
                <a16:creationId xmlns:a16="http://schemas.microsoft.com/office/drawing/2014/main" id="{6951F1E9-21BA-8A99-081A-84B1FE9C920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16C3F49-D077-4866-9934-A84A7456D77E}"/>
              </a:ext>
            </a:extLst>
          </p:cNvPr>
          <p:cNvSpPr>
            <a:spLocks noGrp="1"/>
          </p:cNvSpPr>
          <p:nvPr>
            <p:ph type="sldNum" sz="quarter" idx="12"/>
          </p:nvPr>
        </p:nvSpPr>
        <p:spPr/>
        <p:txBody>
          <a:bodyPr/>
          <a:lstStyle>
            <a:lvl1pPr>
              <a:defRPr/>
            </a:lvl1pPr>
          </a:lstStyle>
          <a:p>
            <a:pPr>
              <a:defRPr/>
            </a:pPr>
            <a:fld id="{4130E0F4-FEFB-42B3-A360-BDC713A83CA0}" type="slidenum">
              <a:rPr lang="en-US" altLang="en-US"/>
              <a:pPr>
                <a:defRPr/>
              </a:pPr>
              <a:t>‹#›</a:t>
            </a:fld>
            <a:endParaRPr lang="en-US" altLang="en-US"/>
          </a:p>
        </p:txBody>
      </p:sp>
    </p:spTree>
    <p:extLst>
      <p:ext uri="{BB962C8B-B14F-4D97-AF65-F5344CB8AC3E}">
        <p14:creationId xmlns:p14="http://schemas.microsoft.com/office/powerpoint/2010/main" val="3206055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EC254AD0-9A4D-2901-C9EE-CAA133BD440D}"/>
              </a:ext>
            </a:extLst>
          </p:cNvPr>
          <p:cNvSpPr>
            <a:spLocks noGrp="1"/>
          </p:cNvSpPr>
          <p:nvPr>
            <p:ph type="dt" sz="half" idx="10"/>
          </p:nvPr>
        </p:nvSpPr>
        <p:spPr/>
        <p:txBody>
          <a:bodyPr/>
          <a:lstStyle>
            <a:lvl1pPr>
              <a:defRPr/>
            </a:lvl1pPr>
          </a:lstStyle>
          <a:p>
            <a:pPr>
              <a:defRPr/>
            </a:pPr>
            <a:fld id="{7063F30E-8A03-4DFD-8BC1-81D0D484123E}" type="datetime1">
              <a:rPr lang="en-US"/>
              <a:pPr>
                <a:defRPr/>
              </a:pPr>
              <a:t>1/8/2026</a:t>
            </a:fld>
            <a:endParaRPr lang="en-US"/>
          </a:p>
        </p:txBody>
      </p:sp>
      <p:sp>
        <p:nvSpPr>
          <p:cNvPr id="6" name="Footer Placeholder 4">
            <a:extLst>
              <a:ext uri="{FF2B5EF4-FFF2-40B4-BE49-F238E27FC236}">
                <a16:creationId xmlns:a16="http://schemas.microsoft.com/office/drawing/2014/main" id="{60C7E985-5544-A829-CA3C-8F9A3457546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EF38B1B-17EC-8D90-031C-40D44F5FD8B9}"/>
              </a:ext>
            </a:extLst>
          </p:cNvPr>
          <p:cNvSpPr>
            <a:spLocks noGrp="1"/>
          </p:cNvSpPr>
          <p:nvPr>
            <p:ph type="sldNum" sz="quarter" idx="12"/>
          </p:nvPr>
        </p:nvSpPr>
        <p:spPr/>
        <p:txBody>
          <a:bodyPr/>
          <a:lstStyle>
            <a:lvl1pPr>
              <a:defRPr/>
            </a:lvl1pPr>
          </a:lstStyle>
          <a:p>
            <a:pPr>
              <a:defRPr/>
            </a:pPr>
            <a:fld id="{A59BD2AD-8B14-4606-90B6-D42B3B3075C2}" type="slidenum">
              <a:rPr lang="en-US" altLang="en-US"/>
              <a:pPr>
                <a:defRPr/>
              </a:pPr>
              <a:t>‹#›</a:t>
            </a:fld>
            <a:endParaRPr lang="en-US" altLang="en-US"/>
          </a:p>
        </p:txBody>
      </p:sp>
    </p:spTree>
    <p:extLst>
      <p:ext uri="{BB962C8B-B14F-4D97-AF65-F5344CB8AC3E}">
        <p14:creationId xmlns:p14="http://schemas.microsoft.com/office/powerpoint/2010/main" val="329617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42B7EA0-BC74-3180-F959-2560F5B485F5}"/>
              </a:ext>
            </a:extLst>
          </p:cNvPr>
          <p:cNvSpPr>
            <a:spLocks noGrp="1"/>
          </p:cNvSpPr>
          <p:nvPr>
            <p:ph type="dt" sz="half" idx="10"/>
          </p:nvPr>
        </p:nvSpPr>
        <p:spPr/>
        <p:txBody>
          <a:bodyPr/>
          <a:lstStyle>
            <a:lvl1pPr>
              <a:defRPr/>
            </a:lvl1pPr>
          </a:lstStyle>
          <a:p>
            <a:pPr>
              <a:defRPr/>
            </a:pPr>
            <a:fld id="{728ABF99-D6B3-4CEB-B2DB-8BC97950026F}" type="datetime1">
              <a:rPr lang="en-US"/>
              <a:pPr>
                <a:defRPr/>
              </a:pPr>
              <a:t>1/8/2026</a:t>
            </a:fld>
            <a:endParaRPr lang="en-US"/>
          </a:p>
        </p:txBody>
      </p:sp>
      <p:sp>
        <p:nvSpPr>
          <p:cNvPr id="6" name="Footer Placeholder 4">
            <a:extLst>
              <a:ext uri="{FF2B5EF4-FFF2-40B4-BE49-F238E27FC236}">
                <a16:creationId xmlns:a16="http://schemas.microsoft.com/office/drawing/2014/main" id="{5C7C6CD0-56F0-F90B-C78F-264D0ADB763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5820D4C-7816-B124-9234-CE26DDB7DAF1}"/>
              </a:ext>
            </a:extLst>
          </p:cNvPr>
          <p:cNvSpPr>
            <a:spLocks noGrp="1"/>
          </p:cNvSpPr>
          <p:nvPr>
            <p:ph type="sldNum" sz="quarter" idx="12"/>
          </p:nvPr>
        </p:nvSpPr>
        <p:spPr/>
        <p:txBody>
          <a:bodyPr/>
          <a:lstStyle>
            <a:lvl1pPr>
              <a:defRPr/>
            </a:lvl1pPr>
          </a:lstStyle>
          <a:p>
            <a:pPr>
              <a:defRPr/>
            </a:pPr>
            <a:fld id="{2BFBBDF1-7B9C-40E2-8A71-DF5C88DE2DEC}" type="slidenum">
              <a:rPr lang="en-US" altLang="en-US"/>
              <a:pPr>
                <a:defRPr/>
              </a:pPr>
              <a:t>‹#›</a:t>
            </a:fld>
            <a:endParaRPr lang="en-US" altLang="en-US"/>
          </a:p>
        </p:txBody>
      </p:sp>
    </p:spTree>
    <p:extLst>
      <p:ext uri="{BB962C8B-B14F-4D97-AF65-F5344CB8AC3E}">
        <p14:creationId xmlns:p14="http://schemas.microsoft.com/office/powerpoint/2010/main" val="2562637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D679A1-8EA5-8967-A48E-18A9A2FA57A1}"/>
              </a:ext>
            </a:extLst>
          </p:cNvPr>
          <p:cNvSpPr>
            <a:spLocks noGrp="1"/>
          </p:cNvSpPr>
          <p:nvPr>
            <p:ph type="dt" sz="half" idx="10"/>
          </p:nvPr>
        </p:nvSpPr>
        <p:spPr/>
        <p:txBody>
          <a:bodyPr/>
          <a:lstStyle>
            <a:lvl1pPr>
              <a:defRPr/>
            </a:lvl1pPr>
          </a:lstStyle>
          <a:p>
            <a:pPr>
              <a:defRPr/>
            </a:pPr>
            <a:fld id="{627AD833-3669-49FA-821C-162C3CFC7B13}" type="datetime1">
              <a:rPr lang="en-US"/>
              <a:pPr>
                <a:defRPr/>
              </a:pPr>
              <a:t>1/8/2026</a:t>
            </a:fld>
            <a:endParaRPr lang="en-US"/>
          </a:p>
        </p:txBody>
      </p:sp>
      <p:sp>
        <p:nvSpPr>
          <p:cNvPr id="5" name="Footer Placeholder 4">
            <a:extLst>
              <a:ext uri="{FF2B5EF4-FFF2-40B4-BE49-F238E27FC236}">
                <a16:creationId xmlns:a16="http://schemas.microsoft.com/office/drawing/2014/main" id="{43167BA6-48DD-3361-7139-4C1B4D9F879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0480B09-4967-475D-BD49-100D95AD46DC}"/>
              </a:ext>
            </a:extLst>
          </p:cNvPr>
          <p:cNvSpPr>
            <a:spLocks noGrp="1"/>
          </p:cNvSpPr>
          <p:nvPr>
            <p:ph type="sldNum" sz="quarter" idx="12"/>
          </p:nvPr>
        </p:nvSpPr>
        <p:spPr/>
        <p:txBody>
          <a:bodyPr/>
          <a:lstStyle>
            <a:lvl1pPr>
              <a:defRPr/>
            </a:lvl1pPr>
          </a:lstStyle>
          <a:p>
            <a:pPr>
              <a:defRPr/>
            </a:pPr>
            <a:fld id="{B47A698A-A205-4545-A08C-71615E506FCA}" type="slidenum">
              <a:rPr lang="en-US" altLang="en-US"/>
              <a:pPr>
                <a:defRPr/>
              </a:pPr>
              <a:t>‹#›</a:t>
            </a:fld>
            <a:endParaRPr lang="en-US" altLang="en-US"/>
          </a:p>
        </p:txBody>
      </p:sp>
    </p:spTree>
    <p:extLst>
      <p:ext uri="{BB962C8B-B14F-4D97-AF65-F5344CB8AC3E}">
        <p14:creationId xmlns:p14="http://schemas.microsoft.com/office/powerpoint/2010/main" val="216394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C4560-C656-5234-BDD1-5CD7500E7F6F}"/>
              </a:ext>
            </a:extLst>
          </p:cNvPr>
          <p:cNvSpPr>
            <a:spLocks noGrp="1"/>
          </p:cNvSpPr>
          <p:nvPr>
            <p:ph type="dt" sz="half" idx="10"/>
          </p:nvPr>
        </p:nvSpPr>
        <p:spPr/>
        <p:txBody>
          <a:bodyPr/>
          <a:lstStyle>
            <a:lvl1pPr>
              <a:defRPr/>
            </a:lvl1pPr>
          </a:lstStyle>
          <a:p>
            <a:pPr>
              <a:defRPr/>
            </a:pPr>
            <a:fld id="{B9DEF83E-C3E6-457A-9898-76D00CF7E027}" type="datetime1">
              <a:rPr lang="en-US"/>
              <a:pPr>
                <a:defRPr/>
              </a:pPr>
              <a:t>1/8/2026</a:t>
            </a:fld>
            <a:endParaRPr lang="en-US"/>
          </a:p>
        </p:txBody>
      </p:sp>
      <p:sp>
        <p:nvSpPr>
          <p:cNvPr id="5" name="Footer Placeholder 4">
            <a:extLst>
              <a:ext uri="{FF2B5EF4-FFF2-40B4-BE49-F238E27FC236}">
                <a16:creationId xmlns:a16="http://schemas.microsoft.com/office/drawing/2014/main" id="{C12A7599-FD51-3237-D8BB-5100BE3FB92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6B4144-DC07-86E3-1CCF-33FA86C9B614}"/>
              </a:ext>
            </a:extLst>
          </p:cNvPr>
          <p:cNvSpPr>
            <a:spLocks noGrp="1"/>
          </p:cNvSpPr>
          <p:nvPr>
            <p:ph type="sldNum" sz="quarter" idx="12"/>
          </p:nvPr>
        </p:nvSpPr>
        <p:spPr/>
        <p:txBody>
          <a:bodyPr/>
          <a:lstStyle>
            <a:lvl1pPr>
              <a:defRPr/>
            </a:lvl1pPr>
          </a:lstStyle>
          <a:p>
            <a:pPr>
              <a:defRPr/>
            </a:pPr>
            <a:fld id="{1460F978-7F2B-4CE2-854E-56899B7840CB}" type="slidenum">
              <a:rPr lang="en-US" altLang="en-US"/>
              <a:pPr>
                <a:defRPr/>
              </a:pPr>
              <a:t>‹#›</a:t>
            </a:fld>
            <a:endParaRPr lang="en-US" altLang="en-US"/>
          </a:p>
        </p:txBody>
      </p:sp>
    </p:spTree>
    <p:extLst>
      <p:ext uri="{BB962C8B-B14F-4D97-AF65-F5344CB8AC3E}">
        <p14:creationId xmlns:p14="http://schemas.microsoft.com/office/powerpoint/2010/main" val="1799775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1566306-1AF0-9AB2-F596-9E696F7028AB}"/>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EB2408F5-80A0-1949-EAB7-48A4ED95C2F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4766CAA3-DCCA-FC9D-ED17-97A661F30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96F3671-815F-4D93-A1B1-02B8B464C2FF}" type="datetime1">
              <a:rPr lang="en-US"/>
              <a:pPr>
                <a:defRPr/>
              </a:pPr>
              <a:t>1/8/2026</a:t>
            </a:fld>
            <a:endParaRPr lang="en-US"/>
          </a:p>
        </p:txBody>
      </p:sp>
      <p:sp>
        <p:nvSpPr>
          <p:cNvPr id="5" name="Footer Placeholder 4">
            <a:extLst>
              <a:ext uri="{FF2B5EF4-FFF2-40B4-BE49-F238E27FC236}">
                <a16:creationId xmlns:a16="http://schemas.microsoft.com/office/drawing/2014/main" id="{545AD61B-CFDA-0B97-F78E-F3BA918E13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5667CD0-849A-27AD-9585-D26B1641195E}"/>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E0C354D0-AC49-45E3-AF16-3399ABD783E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971" r:id="rId1"/>
    <p:sldLayoutId id="2147484972" r:id="rId2"/>
    <p:sldLayoutId id="2147484973" r:id="rId3"/>
    <p:sldLayoutId id="2147484974" r:id="rId4"/>
    <p:sldLayoutId id="2147484975" r:id="rId5"/>
    <p:sldLayoutId id="2147484976" r:id="rId6"/>
    <p:sldLayoutId id="2147484977" r:id="rId7"/>
    <p:sldLayoutId id="2147484978" r:id="rId8"/>
    <p:sldLayoutId id="2147484979" r:id="rId9"/>
    <p:sldLayoutId id="2147484980" r:id="rId10"/>
    <p:sldLayoutId id="2147484981" r:id="rId11"/>
  </p:sldLayoutIdLst>
  <p:hf hdr="0" ft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014F9-DC74-74B0-22B2-1A08322AA38B}"/>
              </a:ext>
            </a:extLst>
          </p:cNvPr>
          <p:cNvSpPr>
            <a:spLocks noGrp="1"/>
          </p:cNvSpPr>
          <p:nvPr>
            <p:ph type="ctrTitle"/>
          </p:nvPr>
        </p:nvSpPr>
        <p:spPr>
          <a:xfrm>
            <a:off x="776287" y="2309814"/>
            <a:ext cx="10639425" cy="1897062"/>
          </a:xfrm>
        </p:spPr>
        <p:txBody>
          <a:bodyPr rtlCol="0">
            <a:noAutofit/>
          </a:bodyPr>
          <a:lstStyle/>
          <a:p>
            <a:pPr eaLnBrk="1" fontAlgn="auto" hangingPunct="1">
              <a:lnSpc>
                <a:spcPct val="150000"/>
              </a:lnSpc>
              <a:spcAft>
                <a:spcPts val="0"/>
              </a:spcAft>
              <a:defRPr/>
            </a:pPr>
            <a:r>
              <a:rPr lang="en-US" altLang="en-US" sz="2400" dirty="0">
                <a:solidFill>
                  <a:schemeClr val="accent1">
                    <a:lumMod val="50000"/>
                  </a:schemeClr>
                </a:solidFill>
                <a:latin typeface="Times New Roman" panose="02020603050405020304" pitchFamily="18" charset="0"/>
                <a:cs typeface="Times New Roman" panose="02020603050405020304" pitchFamily="18" charset="0"/>
              </a:rPr>
              <a:t>Department of Computer Science and Engineering</a:t>
            </a:r>
            <a:br>
              <a:rPr lang="en-US" altLang="en-US" sz="2400" u="sng" dirty="0">
                <a:solidFill>
                  <a:schemeClr val="accent1">
                    <a:lumMod val="75000"/>
                  </a:schemeClr>
                </a:solidFill>
                <a:latin typeface="Times New Roman" panose="02020603050405020304" pitchFamily="18" charset="0"/>
                <a:cs typeface="Times New Roman" panose="02020603050405020304" pitchFamily="18" charset="0"/>
              </a:rPr>
            </a:br>
            <a:br>
              <a:rPr lang="en-US" sz="1800" b="1" dirty="0">
                <a:solidFill>
                  <a:schemeClr val="accent4">
                    <a:lumMod val="75000"/>
                  </a:schemeClr>
                </a:solidFill>
                <a:latin typeface="Times New Roman" panose="02020603050405020304" pitchFamily="18" charset="0"/>
                <a:ea typeface="Times New Roman" panose="02020603050405020304" pitchFamily="18" charset="0"/>
              </a:rPr>
            </a:br>
            <a:r>
              <a:rPr lang="en-US" sz="2400" b="1" dirty="0">
                <a:solidFill>
                  <a:srgbClr val="C00000"/>
                </a:solidFill>
                <a:latin typeface="Times New Roman" panose="02020603050405020304" pitchFamily="18" charset="0"/>
                <a:ea typeface="Times New Roman" panose="02020603050405020304" pitchFamily="18" charset="0"/>
              </a:rPr>
              <a:t>TITLE</a:t>
            </a:r>
            <a:r>
              <a:rPr lang="en-US" sz="2400" b="1" dirty="0">
                <a:solidFill>
                  <a:srgbClr val="FF0000"/>
                </a:solidFill>
                <a:latin typeface="Times New Roman" panose="02020603050405020304" pitchFamily="18" charset="0"/>
                <a:ea typeface="Times New Roman" panose="02020603050405020304" pitchFamily="18" charset="0"/>
              </a:rPr>
              <a:t>:</a:t>
            </a:r>
            <a:r>
              <a:rPr lang="en-US" sz="1800" b="1" dirty="0">
                <a:solidFill>
                  <a:schemeClr val="accent4">
                    <a:lumMod val="75000"/>
                  </a:schemeClr>
                </a:solidFill>
                <a:latin typeface="Times New Roman" panose="02020603050405020304" pitchFamily="18" charset="0"/>
                <a:ea typeface="Times New Roman" panose="02020603050405020304" pitchFamily="18" charset="0"/>
              </a:rPr>
              <a:t> </a:t>
            </a:r>
            <a:r>
              <a:rPr lang="en-US" sz="2400" b="1" dirty="0">
                <a:solidFill>
                  <a:srgbClr val="FF0000"/>
                </a:solidFill>
                <a:latin typeface="Times New Roman" panose="02020603050405020304" pitchFamily="18" charset="0"/>
                <a:ea typeface="Times New Roman" panose="02020603050405020304" pitchFamily="18" charset="0"/>
              </a:rPr>
              <a:t>AUTOMATIC</a:t>
            </a:r>
            <a:r>
              <a:rPr lang="en-US" sz="1800" b="1" dirty="0">
                <a:solidFill>
                  <a:schemeClr val="accent4">
                    <a:lumMod val="75000"/>
                  </a:schemeClr>
                </a:solidFill>
                <a:latin typeface="Times New Roman" panose="02020603050405020304" pitchFamily="18" charset="0"/>
                <a:ea typeface="Times New Roman" panose="02020603050405020304" pitchFamily="18" charset="0"/>
              </a:rPr>
              <a:t> </a:t>
            </a:r>
            <a:r>
              <a:rPr lang="en-US" sz="2400" b="1" dirty="0">
                <a:solidFill>
                  <a:srgbClr val="FF0000"/>
                </a:solidFill>
                <a:latin typeface="Times New Roman" panose="02020603050405020304" pitchFamily="18" charset="0"/>
                <a:ea typeface="Times New Roman" panose="02020603050405020304" pitchFamily="18" charset="0"/>
              </a:rPr>
              <a:t>DETECTION OF </a:t>
            </a:r>
            <a:r>
              <a:rPr lang="en-US" sz="2400" b="1" dirty="0">
                <a:solidFill>
                  <a:srgbClr val="FF0000"/>
                </a:solidFill>
                <a:latin typeface="Times New Roman" pitchFamily="18" charset="0"/>
                <a:ea typeface="Times New Roman" panose="02020603050405020304" pitchFamily="18" charset="0"/>
                <a:cs typeface="Times New Roman" pitchFamily="18" charset="0"/>
              </a:rPr>
              <a:t>DIABETIC RETINOPATHY </a:t>
            </a:r>
            <a:br>
              <a:rPr lang="en-US" sz="2400" b="1" dirty="0">
                <a:solidFill>
                  <a:srgbClr val="FF0000"/>
                </a:solidFill>
                <a:latin typeface="Times New Roman" pitchFamily="18" charset="0"/>
                <a:ea typeface="Times New Roman" panose="02020603050405020304" pitchFamily="18" charset="0"/>
                <a:cs typeface="Times New Roman" pitchFamily="18" charset="0"/>
              </a:rPr>
            </a:br>
            <a:r>
              <a:rPr lang="en-US" sz="2400" b="1" dirty="0">
                <a:solidFill>
                  <a:srgbClr val="FF0000"/>
                </a:solidFill>
                <a:latin typeface="Times New Roman" pitchFamily="18" charset="0"/>
                <a:ea typeface="Times New Roman" panose="02020603050405020304" pitchFamily="18" charset="0"/>
                <a:cs typeface="Times New Roman" pitchFamily="18" charset="0"/>
              </a:rPr>
              <a:t> USING CNN</a:t>
            </a:r>
            <a:endParaRPr lang="en-IN" sz="2400" dirty="0">
              <a:solidFill>
                <a:srgbClr val="FF0000"/>
              </a:solidFill>
            </a:endParaRPr>
          </a:p>
        </p:txBody>
      </p:sp>
      <p:sp>
        <p:nvSpPr>
          <p:cNvPr id="3076" name="Slide Number Placeholder 4">
            <a:extLst>
              <a:ext uri="{FF2B5EF4-FFF2-40B4-BE49-F238E27FC236}">
                <a16:creationId xmlns:a16="http://schemas.microsoft.com/office/drawing/2014/main" id="{FE97C9C7-33C7-FC5C-5E71-78921D040C6E}"/>
              </a:ext>
            </a:extLst>
          </p:cNvPr>
          <p:cNvSpPr>
            <a:spLocks noGrp="1" noChangeArrowheads="1"/>
          </p:cNvSpPr>
          <p:nvPr>
            <p:ph type="sldNum" sz="quarter" idx="12"/>
          </p:nvPr>
        </p:nvSpPr>
        <p:spPr bwMode="auto">
          <a:xfrm>
            <a:off x="10682288" y="6492875"/>
            <a:ext cx="1016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F54399B8-9EC6-4DD1-A910-0D858A424A4B}" type="slidenum">
              <a:rPr lang="en-US" altLang="en-US" sz="1200" smtClean="0">
                <a:solidFill>
                  <a:srgbClr val="7395D3"/>
                </a:solidFill>
                <a:latin typeface="Gill Sans MT" panose="020B0502020104020203" pitchFamily="34" charset="0"/>
              </a:rPr>
              <a:pPr>
                <a:lnSpc>
                  <a:spcPct val="100000"/>
                </a:lnSpc>
                <a:spcBef>
                  <a:spcPct val="0"/>
                </a:spcBef>
                <a:buFontTx/>
                <a:buNone/>
              </a:pPr>
              <a:t>1</a:t>
            </a:fld>
            <a:endParaRPr lang="en-US" altLang="en-US" sz="1200">
              <a:solidFill>
                <a:srgbClr val="7395D3"/>
              </a:solidFill>
              <a:latin typeface="Gill Sans MT" panose="020B0502020104020203" pitchFamily="34" charset="0"/>
            </a:endParaRPr>
          </a:p>
        </p:txBody>
      </p:sp>
      <p:sp>
        <p:nvSpPr>
          <p:cNvPr id="3077" name="TextBox 10">
            <a:extLst>
              <a:ext uri="{FF2B5EF4-FFF2-40B4-BE49-F238E27FC236}">
                <a16:creationId xmlns:a16="http://schemas.microsoft.com/office/drawing/2014/main" id="{EC2AAC68-9E54-5F1F-35E0-972ED57F2D6E}"/>
              </a:ext>
            </a:extLst>
          </p:cNvPr>
          <p:cNvSpPr txBox="1">
            <a:spLocks noChangeArrowheads="1"/>
          </p:cNvSpPr>
          <p:nvPr/>
        </p:nvSpPr>
        <p:spPr bwMode="auto">
          <a:xfrm>
            <a:off x="331788" y="4740275"/>
            <a:ext cx="30286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000" b="1" u="sng" dirty="0">
                <a:latin typeface="Times New Roman" panose="02020603050405020304" pitchFamily="18" charset="0"/>
                <a:cs typeface="Times New Roman" panose="02020603050405020304" pitchFamily="18" charset="0"/>
              </a:rPr>
              <a:t>Guide Name: </a:t>
            </a:r>
          </a:p>
          <a:p>
            <a:pPr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Name: </a:t>
            </a:r>
            <a:r>
              <a:rPr lang="en-US" altLang="en-US" sz="2000" b="1" dirty="0">
                <a:latin typeface="Times New Roman" panose="02020603050405020304" pitchFamily="18" charset="0"/>
                <a:cs typeface="Times New Roman" panose="02020603050405020304" pitchFamily="18" charset="0"/>
              </a:rPr>
              <a:t>Kshitij Sheth</a:t>
            </a:r>
          </a:p>
          <a:p>
            <a:pPr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Designation: Asst Professor</a:t>
            </a:r>
          </a:p>
        </p:txBody>
      </p:sp>
      <p:sp>
        <p:nvSpPr>
          <p:cNvPr id="3078" name="TextBox 11">
            <a:extLst>
              <a:ext uri="{FF2B5EF4-FFF2-40B4-BE49-F238E27FC236}">
                <a16:creationId xmlns:a16="http://schemas.microsoft.com/office/drawing/2014/main" id="{03DB33F7-D6AE-480C-D60F-CBF82F882C37}"/>
              </a:ext>
            </a:extLst>
          </p:cNvPr>
          <p:cNvSpPr txBox="1">
            <a:spLocks noChangeArrowheads="1"/>
          </p:cNvSpPr>
          <p:nvPr/>
        </p:nvSpPr>
        <p:spPr bwMode="auto">
          <a:xfrm>
            <a:off x="6643688" y="4494213"/>
            <a:ext cx="462121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000" b="1" dirty="0">
                <a:latin typeface="Times New Roman" panose="02020603050405020304" pitchFamily="18" charset="0"/>
                <a:cs typeface="Times New Roman" panose="02020603050405020304" pitchFamily="18" charset="0"/>
              </a:rPr>
              <a:t>Students Name: </a:t>
            </a:r>
          </a:p>
          <a:p>
            <a:pPr eaLnBrk="1" hangingPunct="1">
              <a:lnSpc>
                <a:spcPct val="100000"/>
              </a:lnSpc>
              <a:spcBef>
                <a:spcPct val="0"/>
              </a:spcBef>
              <a:buFontTx/>
              <a:buNone/>
            </a:pPr>
            <a:r>
              <a:rPr lang="en-US" altLang="en-US" sz="1800" b="1" dirty="0">
                <a:solidFill>
                  <a:srgbClr val="C00000"/>
                </a:solidFill>
                <a:latin typeface="Times New Roman" panose="02020603050405020304" pitchFamily="18" charset="0"/>
                <a:cs typeface="Times New Roman" panose="02020603050405020304" pitchFamily="18" charset="0"/>
              </a:rPr>
              <a:t>Ms. Bharti. S. </a:t>
            </a:r>
            <a:r>
              <a:rPr lang="en-US" altLang="en-US" sz="1800" b="1" dirty="0" err="1">
                <a:solidFill>
                  <a:srgbClr val="C00000"/>
                </a:solidFill>
                <a:latin typeface="Times New Roman" panose="02020603050405020304" pitchFamily="18" charset="0"/>
                <a:cs typeface="Times New Roman" panose="02020603050405020304" pitchFamily="18" charset="0"/>
              </a:rPr>
              <a:t>Khoth</a:t>
            </a:r>
            <a:r>
              <a:rPr lang="en-US" altLang="en-US" sz="1800" b="1" dirty="0">
                <a:solidFill>
                  <a:srgbClr val="C00000"/>
                </a:solidFill>
                <a:latin typeface="Times New Roman" panose="02020603050405020304" pitchFamily="18" charset="0"/>
                <a:cs typeface="Times New Roman" panose="02020603050405020304" pitchFamily="18" charset="0"/>
              </a:rPr>
              <a:t>       (2BU22CS034)</a:t>
            </a:r>
            <a:endParaRPr lang="en-IN" altLang="en-US" sz="1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1800" b="1" dirty="0">
                <a:solidFill>
                  <a:srgbClr val="C00000"/>
                </a:solidFill>
                <a:latin typeface="Times New Roman" panose="02020603050405020304" pitchFamily="18" charset="0"/>
                <a:cs typeface="Times New Roman" panose="02020603050405020304" pitchFamily="18" charset="0"/>
              </a:rPr>
              <a:t>Ms. Bhuvaneshwari. M   (2BU22CS038)</a:t>
            </a:r>
          </a:p>
          <a:p>
            <a:pPr eaLnBrk="1" hangingPunct="1">
              <a:lnSpc>
                <a:spcPct val="100000"/>
              </a:lnSpc>
              <a:spcBef>
                <a:spcPct val="0"/>
              </a:spcBef>
              <a:buFontTx/>
              <a:buNone/>
            </a:pPr>
            <a:r>
              <a:rPr lang="en-US" altLang="en-US" sz="1800" b="1" dirty="0">
                <a:solidFill>
                  <a:srgbClr val="C00000"/>
                </a:solidFill>
                <a:latin typeface="Times New Roman" panose="02020603050405020304" pitchFamily="18" charset="0"/>
                <a:cs typeface="Times New Roman" panose="02020603050405020304" pitchFamily="18" charset="0"/>
              </a:rPr>
              <a:t>Mr. Karthik. Katti           (2BU22CS054)</a:t>
            </a:r>
            <a:endParaRPr lang="en-IN" altLang="en-US" sz="1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1800" b="1" dirty="0">
                <a:solidFill>
                  <a:srgbClr val="C00000"/>
                </a:solidFill>
                <a:latin typeface="Times New Roman" panose="02020603050405020304" pitchFamily="18" charset="0"/>
                <a:cs typeface="Times New Roman" panose="02020603050405020304" pitchFamily="18" charset="0"/>
              </a:rPr>
              <a:t>Mr. Kishan. Miskin         (2BU23CS404)</a:t>
            </a:r>
            <a:endParaRPr lang="en-IN" altLang="en-US" sz="1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2000" dirty="0">
              <a:latin typeface="Times New Roman" panose="02020603050405020304" pitchFamily="18" charset="0"/>
              <a:cs typeface="Times New Roman" panose="02020603050405020304" pitchFamily="18" charset="0"/>
            </a:endParaRPr>
          </a:p>
        </p:txBody>
      </p:sp>
      <p:pic>
        <p:nvPicPr>
          <p:cNvPr id="3079" name="Picture 2">
            <a:extLst>
              <a:ext uri="{FF2B5EF4-FFF2-40B4-BE49-F238E27FC236}">
                <a16:creationId xmlns:a16="http://schemas.microsoft.com/office/drawing/2014/main" id="{B93A0095-7EFF-58E3-3D55-CF951E1E1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3" y="453232"/>
            <a:ext cx="11566525"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0">
            <a:extLst>
              <a:ext uri="{FF2B5EF4-FFF2-40B4-BE49-F238E27FC236}">
                <a16:creationId xmlns:a16="http://schemas.microsoft.com/office/drawing/2014/main" id="{300AA503-5C2F-C5AB-E49A-9475AD403A7C}"/>
              </a:ext>
            </a:extLst>
          </p:cNvPr>
          <p:cNvSpPr txBox="1">
            <a:spLocks noChangeArrowheads="1"/>
          </p:cNvSpPr>
          <p:nvPr/>
        </p:nvSpPr>
        <p:spPr bwMode="auto">
          <a:xfrm>
            <a:off x="4610894" y="1806577"/>
            <a:ext cx="2800350" cy="40163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Accredited by NBA</a:t>
            </a:r>
          </a:p>
        </p:txBody>
      </p:sp>
      <p:sp>
        <p:nvSpPr>
          <p:cNvPr id="7" name="TextBox 6">
            <a:extLst>
              <a:ext uri="{FF2B5EF4-FFF2-40B4-BE49-F238E27FC236}">
                <a16:creationId xmlns:a16="http://schemas.microsoft.com/office/drawing/2014/main" id="{31CDADCB-A6D5-C3BE-02B1-7985B8449F17}"/>
              </a:ext>
            </a:extLst>
          </p:cNvPr>
          <p:cNvSpPr txBox="1"/>
          <p:nvPr/>
        </p:nvSpPr>
        <p:spPr>
          <a:xfrm>
            <a:off x="331788" y="180975"/>
            <a:ext cx="11358562" cy="368300"/>
          </a:xfrm>
          <a:prstGeom prst="rect">
            <a:avLst/>
          </a:prstGeom>
          <a:noFill/>
        </p:spPr>
        <p:txBody>
          <a:bodyPr>
            <a:spAutoFit/>
          </a:bodyPr>
          <a:lstStyle/>
          <a:p>
            <a:pPr algn="ctr">
              <a:defRPr/>
            </a:pPr>
            <a:r>
              <a:rPr lang="en-US" b="1" dirty="0">
                <a:solidFill>
                  <a:schemeClr val="accent5">
                    <a:lumMod val="75000"/>
                  </a:schemeClr>
                </a:solidFill>
                <a:latin typeface="Times New Roman" panose="02020603050405020304" pitchFamily="18" charset="0"/>
                <a:ea typeface="Times New Roman" panose="02020603050405020304" pitchFamily="18" charset="0"/>
              </a:rPr>
              <a:t>VISVESVARAYA TECHNOLOGICAL UNIVERSITY - BELAGAVI</a:t>
            </a:r>
            <a:endParaRPr lang="en-IN" sz="1400" b="1" dirty="0">
              <a:solidFill>
                <a:schemeClr val="accent5">
                  <a:lumMod val="75000"/>
                </a:schemeClr>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9A8F153-E8C2-A809-DBCC-315F46C79C0E}"/>
              </a:ext>
            </a:extLst>
          </p:cNvPr>
          <p:cNvSpPr>
            <a:spLocks noGrp="1" noChangeArrowheads="1"/>
          </p:cNvSpPr>
          <p:nvPr>
            <p:ph type="title"/>
          </p:nvPr>
        </p:nvSpPr>
        <p:spPr>
          <a:xfrm>
            <a:off x="581025" y="358775"/>
            <a:ext cx="10515600" cy="1325563"/>
          </a:xfrm>
        </p:spPr>
        <p:txBody>
          <a:bodyPr/>
          <a:lstStyle/>
          <a:p>
            <a:pPr eaLnBrk="1" hangingPunct="1"/>
            <a:r>
              <a:rPr lang="en-US" altLang="en-US" dirty="0">
                <a:latin typeface="Times New Roman" panose="02020603050405020304" pitchFamily="18" charset="0"/>
                <a:cs typeface="Times New Roman" panose="02020603050405020304" pitchFamily="18" charset="0"/>
              </a:rPr>
              <a:t>Content </a:t>
            </a:r>
            <a:endParaRPr lang="en-IN" altLang="en-US" dirty="0"/>
          </a:p>
        </p:txBody>
      </p:sp>
      <p:sp>
        <p:nvSpPr>
          <p:cNvPr id="4099" name="Content Placeholder 2">
            <a:extLst>
              <a:ext uri="{FF2B5EF4-FFF2-40B4-BE49-F238E27FC236}">
                <a16:creationId xmlns:a16="http://schemas.microsoft.com/office/drawing/2014/main" id="{F52CE69F-D9AB-338A-A8E8-E19531533732}"/>
              </a:ext>
            </a:extLst>
          </p:cNvPr>
          <p:cNvSpPr>
            <a:spLocks noGrp="1" noChangeArrowheads="1"/>
          </p:cNvSpPr>
          <p:nvPr>
            <p:ph idx="1"/>
          </p:nvPr>
        </p:nvSpPr>
        <p:spPr>
          <a:xfrm>
            <a:off x="581025" y="1325563"/>
            <a:ext cx="11029950" cy="5221287"/>
          </a:xfrm>
        </p:spPr>
        <p:txBody>
          <a:bodyPr/>
          <a:lstStyle/>
          <a:p>
            <a:pPr eaLnBrk="1" hangingPunct="1">
              <a:lnSpc>
                <a:spcPct val="150000"/>
              </a:lnSpc>
            </a:pPr>
            <a:r>
              <a:rPr lang="en-US" altLang="en-US" sz="1600" dirty="0">
                <a:latin typeface="Times New Roman" panose="02020603050405020304" pitchFamily="18" charset="0"/>
                <a:cs typeface="Times New Roman" panose="02020603050405020304" pitchFamily="18" charset="0"/>
              </a:rPr>
              <a:t>Introduction</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Problem Statement</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Objectives</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Requirement Specification</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Block Diagram</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Methodology</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Proposed Architecture Diagram</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Algorithm</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Conclusion and Future Enhancement</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Results</a:t>
            </a:r>
          </a:p>
          <a:p>
            <a:pPr eaLnBrk="1" hangingPunct="1">
              <a:lnSpc>
                <a:spcPct val="150000"/>
              </a:lnSpc>
            </a:pPr>
            <a:r>
              <a:rPr lang="en-US" altLang="en-US" sz="1600" dirty="0">
                <a:latin typeface="Times New Roman" panose="02020603050405020304" pitchFamily="18" charset="0"/>
                <a:cs typeface="Times New Roman" panose="02020603050405020304" pitchFamily="18" charset="0"/>
              </a:rPr>
              <a:t>References</a:t>
            </a:r>
          </a:p>
        </p:txBody>
      </p:sp>
      <p:sp>
        <p:nvSpPr>
          <p:cNvPr id="4101" name="Slide Number Placeholder 6">
            <a:extLst>
              <a:ext uri="{FF2B5EF4-FFF2-40B4-BE49-F238E27FC236}">
                <a16:creationId xmlns:a16="http://schemas.microsoft.com/office/drawing/2014/main" id="{63DC5FBD-14E3-0ECC-2396-A2CF558D682E}"/>
              </a:ext>
            </a:extLst>
          </p:cNvPr>
          <p:cNvSpPr>
            <a:spLocks noGrp="1" noChangeArrowheads="1"/>
          </p:cNvSpPr>
          <p:nvPr>
            <p:ph type="sldNum" sz="quarter" idx="12"/>
          </p:nvPr>
        </p:nvSpPr>
        <p:spPr bwMode="auto">
          <a:xfrm>
            <a:off x="10806113" y="6445250"/>
            <a:ext cx="1052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02BD4F13-B10C-4D58-A6D7-CA2BF7DFEB3C}" type="slidenum">
              <a:rPr lang="en-US" altLang="en-US" sz="1200" smtClean="0">
                <a:solidFill>
                  <a:schemeClr val="accent2"/>
                </a:solidFill>
                <a:latin typeface="Gill Sans MT" panose="020B0502020104020203" pitchFamily="34" charset="0"/>
              </a:rPr>
              <a:pPr>
                <a:lnSpc>
                  <a:spcPct val="100000"/>
                </a:lnSpc>
                <a:spcBef>
                  <a:spcPct val="0"/>
                </a:spcBef>
                <a:buFontTx/>
                <a:buNone/>
              </a:pPr>
              <a:t>2</a:t>
            </a:fld>
            <a:endParaRPr lang="en-US" altLang="en-US" sz="1200">
              <a:solidFill>
                <a:schemeClr val="accent2"/>
              </a:solidFill>
              <a:latin typeface="Gill Sans MT" panose="020B05020201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184FF11-8BE8-AA42-B21B-DF9E2DB4D392}"/>
              </a:ext>
            </a:extLst>
          </p:cNvPr>
          <p:cNvSpPr>
            <a:spLocks noGrp="1" noChangeArrowheads="1"/>
          </p:cNvSpPr>
          <p:nvPr>
            <p:ph type="title"/>
          </p:nvPr>
        </p:nvSpPr>
        <p:spPr>
          <a:xfrm>
            <a:off x="430213" y="346075"/>
            <a:ext cx="10515600" cy="608013"/>
          </a:xfrm>
        </p:spPr>
        <p:txBody>
          <a:bodyPr/>
          <a:lstStyle/>
          <a:p>
            <a:pPr eaLnBrk="1" hangingPunct="1"/>
            <a:r>
              <a:rPr lang="en-IN" altLang="en-US" dirty="0">
                <a:latin typeface="Times New Roman" panose="02020603050405020304" pitchFamily="18" charset="0"/>
                <a:cs typeface="Times New Roman" panose="02020603050405020304" pitchFamily="18" charset="0"/>
              </a:rPr>
              <a:t>INTRODUCTION</a:t>
            </a:r>
          </a:p>
        </p:txBody>
      </p:sp>
      <p:sp>
        <p:nvSpPr>
          <p:cNvPr id="5123" name="Content Placeholder 2">
            <a:extLst>
              <a:ext uri="{FF2B5EF4-FFF2-40B4-BE49-F238E27FC236}">
                <a16:creationId xmlns:a16="http://schemas.microsoft.com/office/drawing/2014/main" id="{F562B532-DFFF-904F-0B5B-34D07856782A}"/>
              </a:ext>
            </a:extLst>
          </p:cNvPr>
          <p:cNvSpPr>
            <a:spLocks noGrp="1" noChangeArrowheads="1"/>
          </p:cNvSpPr>
          <p:nvPr>
            <p:ph idx="1"/>
          </p:nvPr>
        </p:nvSpPr>
        <p:spPr>
          <a:xfrm>
            <a:off x="430213" y="1131888"/>
            <a:ext cx="7283450" cy="5070475"/>
          </a:xfrm>
        </p:spPr>
        <p:txBody>
          <a:bodyPr/>
          <a:lstStyle/>
          <a:p>
            <a:pPr algn="just">
              <a:lnSpc>
                <a:spcPct val="150000"/>
              </a:lnSpc>
              <a:buFont typeface="Arial" panose="020B0604020202020204" pitchFamily="34" charset="0"/>
              <a:buNone/>
              <a:defRPr/>
            </a:pPr>
            <a:r>
              <a:rPr lang="en-US" sz="2200" dirty="0">
                <a:latin typeface="Times New Roman" panose="02020603050405020304" pitchFamily="18" charset="0"/>
                <a:cs typeface="Times New Roman" panose="02020603050405020304" pitchFamily="18" charset="0"/>
              </a:rPr>
              <a:t>        </a:t>
            </a:r>
          </a:p>
          <a:p>
            <a:pPr algn="just">
              <a:lnSpc>
                <a:spcPct val="150000"/>
              </a:lnSpc>
              <a:buFont typeface="Arial" panose="020B0604020202020204" pitchFamily="34" charset="0"/>
              <a:buNone/>
              <a:defRPr/>
            </a:pPr>
            <a:r>
              <a:rPr lang="en-US" sz="22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Diabetic Retinopathy(DR) is a complication of diabetes, caused by high blood sugar  levels damaging the back of the eye (retina). Early diagnosis is to ensure that patients with diabetes are not affected by blindness.</a:t>
            </a:r>
          </a:p>
          <a:p>
            <a:pPr algn="just">
              <a:lnSpc>
                <a:spcPct val="150000"/>
              </a:lnSpc>
              <a:buNone/>
              <a:defRPr/>
            </a:pPr>
            <a:r>
              <a:rPr lang="en-US" sz="1800" dirty="0">
                <a:latin typeface="Times New Roman" panose="02020603050405020304" pitchFamily="18" charset="0"/>
                <a:cs typeface="Times New Roman" panose="02020603050405020304" pitchFamily="18" charset="0"/>
              </a:rPr>
              <a:t>    Deep learning plays an important role in the diagnosing Of  the  diabetes.  This  project   demonstrates  the  use  of Convolutional  Neural  Networks CNN on  color  fundus images to recognize the staging of  diabetic  Retinopathy. The CNN classifies the images into different severity levels—such as positive, negative, moderate, diabetic retinopathy</a:t>
            </a:r>
          </a:p>
          <a:p>
            <a:pPr algn="just">
              <a:lnSpc>
                <a:spcPct val="150000"/>
              </a:lnSpc>
              <a:buFont typeface="Arial" panose="020B0604020202020204" pitchFamily="34" charset="0"/>
              <a:buNone/>
              <a:defRPr/>
            </a:pPr>
            <a:endParaRPr lang="en-US" sz="1800" dirty="0">
              <a:latin typeface="Times New Roman" panose="02020603050405020304" pitchFamily="18" charset="0"/>
              <a:cs typeface="Times New Roman" panose="02020603050405020304" pitchFamily="18" charset="0"/>
            </a:endParaRPr>
          </a:p>
          <a:p>
            <a:pPr marL="0" indent="0" algn="just" eaLnBrk="1" hangingPunct="1">
              <a:lnSpc>
                <a:spcPct val="150000"/>
              </a:lnSpc>
              <a:buFont typeface="Arial" panose="020B0604020202020204" pitchFamily="34" charset="0"/>
              <a:buNone/>
              <a:defRPr/>
            </a:pPr>
            <a:endParaRPr lang="en-IN" altLang="en-US" dirty="0">
              <a:latin typeface="Times New Roman" panose="02020603050405020304" pitchFamily="18" charset="0"/>
              <a:cs typeface="Times New Roman" panose="02020603050405020304" pitchFamily="18" charset="0"/>
            </a:endParaRPr>
          </a:p>
        </p:txBody>
      </p:sp>
      <p:sp>
        <p:nvSpPr>
          <p:cNvPr id="5125" name="Slide Number Placeholder 6">
            <a:extLst>
              <a:ext uri="{FF2B5EF4-FFF2-40B4-BE49-F238E27FC236}">
                <a16:creationId xmlns:a16="http://schemas.microsoft.com/office/drawing/2014/main" id="{2F8075EC-CB2B-1026-DD12-C268C96E3A64}"/>
              </a:ext>
            </a:extLst>
          </p:cNvPr>
          <p:cNvSpPr>
            <a:spLocks noGrp="1" noChangeArrowheads="1"/>
          </p:cNvSpPr>
          <p:nvPr>
            <p:ph type="sldNum" sz="quarter" idx="12"/>
          </p:nvPr>
        </p:nvSpPr>
        <p:spPr bwMode="auto">
          <a:xfrm>
            <a:off x="10729913" y="6472238"/>
            <a:ext cx="1052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57E19F23-909C-46FD-AC7A-0E760C2668F4}" type="slidenum">
              <a:rPr lang="en-US" altLang="en-US" sz="1200" smtClean="0">
                <a:solidFill>
                  <a:schemeClr val="accent2"/>
                </a:solidFill>
                <a:latin typeface="Gill Sans MT" panose="020B0502020104020203" pitchFamily="34" charset="0"/>
              </a:rPr>
              <a:pPr>
                <a:lnSpc>
                  <a:spcPct val="100000"/>
                </a:lnSpc>
                <a:spcBef>
                  <a:spcPct val="0"/>
                </a:spcBef>
                <a:buFontTx/>
                <a:buNone/>
              </a:pPr>
              <a:t>3</a:t>
            </a:fld>
            <a:endParaRPr lang="en-US" altLang="en-US" sz="1200">
              <a:solidFill>
                <a:schemeClr val="accent2"/>
              </a:solidFill>
              <a:latin typeface="Gill Sans MT" panose="020B0502020104020203" pitchFamily="34" charset="0"/>
            </a:endParaRPr>
          </a:p>
        </p:txBody>
      </p:sp>
      <p:pic>
        <p:nvPicPr>
          <p:cNvPr id="5126" name="Picture 2">
            <a:extLst>
              <a:ext uri="{FF2B5EF4-FFF2-40B4-BE49-F238E27FC236}">
                <a16:creationId xmlns:a16="http://schemas.microsoft.com/office/drawing/2014/main" id="{D79B610D-7592-B217-4CAE-9D5B1BDEF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3755" y="1223963"/>
            <a:ext cx="3710963" cy="391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F206572-C9AB-DEBB-A12D-192B1C16969B}"/>
              </a:ext>
            </a:extLst>
          </p:cNvPr>
          <p:cNvSpPr>
            <a:spLocks noGrp="1" noChangeArrowheads="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Problem statement</a:t>
            </a:r>
            <a:endParaRPr lang="en-IN" altLang="en-US" dirty="0"/>
          </a:p>
        </p:txBody>
      </p:sp>
      <p:sp>
        <p:nvSpPr>
          <p:cNvPr id="4" name="Date Placeholder 3">
            <a:extLst>
              <a:ext uri="{FF2B5EF4-FFF2-40B4-BE49-F238E27FC236}">
                <a16:creationId xmlns:a16="http://schemas.microsoft.com/office/drawing/2014/main" id="{249A14B3-6D6F-1FEB-A06F-8EF3FA042C1B}"/>
              </a:ext>
            </a:extLst>
          </p:cNvPr>
          <p:cNvSpPr>
            <a:spLocks noGrp="1"/>
          </p:cNvSpPr>
          <p:nvPr>
            <p:ph type="dt" sz="quarter" idx="10"/>
          </p:nvPr>
        </p:nvSpPr>
        <p:spPr/>
        <p:txBody>
          <a:bodyPr/>
          <a:lstStyle/>
          <a:p>
            <a:pPr>
              <a:defRPr/>
            </a:pPr>
            <a:fld id="{EB6C16B1-6D61-4FF1-8BCF-1360BCD4AB4B}" type="datetime1">
              <a:rPr lang="en-US" smtClean="0"/>
              <a:pPr>
                <a:defRPr/>
              </a:pPr>
              <a:t>1/8/2026</a:t>
            </a:fld>
            <a:endParaRPr lang="en-US"/>
          </a:p>
        </p:txBody>
      </p:sp>
      <p:sp>
        <p:nvSpPr>
          <p:cNvPr id="7172" name="Slide Number Placeholder 4">
            <a:extLst>
              <a:ext uri="{FF2B5EF4-FFF2-40B4-BE49-F238E27FC236}">
                <a16:creationId xmlns:a16="http://schemas.microsoft.com/office/drawing/2014/main" id="{36220F91-9E84-E13B-7916-D1967E06A0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A2D2ADD0-7CBA-43A0-9068-5066F7D3B6C1}" type="slidenum">
              <a:rPr lang="en-US" altLang="en-US" sz="1200" smtClean="0">
                <a:solidFill>
                  <a:srgbClr val="898989"/>
                </a:solidFill>
              </a:rPr>
              <a:pPr>
                <a:lnSpc>
                  <a:spcPct val="100000"/>
                </a:lnSpc>
                <a:spcBef>
                  <a:spcPct val="0"/>
                </a:spcBef>
                <a:buFontTx/>
                <a:buNone/>
              </a:pPr>
              <a:t>4</a:t>
            </a:fld>
            <a:endParaRPr lang="en-US" altLang="en-US" sz="1200">
              <a:solidFill>
                <a:srgbClr val="898989"/>
              </a:solidFill>
            </a:endParaRPr>
          </a:p>
        </p:txBody>
      </p:sp>
      <p:sp>
        <p:nvSpPr>
          <p:cNvPr id="7173" name="Rectangle 6">
            <a:extLst>
              <a:ext uri="{FF2B5EF4-FFF2-40B4-BE49-F238E27FC236}">
                <a16:creationId xmlns:a16="http://schemas.microsoft.com/office/drawing/2014/main" id="{41B3F98C-CE98-4746-2164-6D1EBD9BE12D}"/>
              </a:ext>
            </a:extLst>
          </p:cNvPr>
          <p:cNvSpPr>
            <a:spLocks noGrp="1" noChangeArrowheads="1"/>
          </p:cNvSpPr>
          <p:nvPr>
            <p:ph idx="1"/>
          </p:nvPr>
        </p:nvSpPr>
        <p:spPr>
          <a:xfrm>
            <a:off x="5644729" y="2053332"/>
            <a:ext cx="5794602" cy="2739211"/>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gn="just">
              <a:lnSpc>
                <a:spcPct val="100000"/>
              </a:lnSpc>
              <a:spcBef>
                <a:spcPct val="0"/>
              </a:spcBef>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Diabetic Retinopathy is a condition that can cause blindness if not detected early. The goal is to create a system that can automatically detect this condition from eye images, This can reduce vision loss, improve patient care.</a:t>
            </a:r>
          </a:p>
          <a:p>
            <a:pPr marL="0" indent="0" algn="just">
              <a:lnSpc>
                <a:spcPct val="100000"/>
              </a:lnSpc>
              <a:spcBef>
                <a:spcPct val="0"/>
              </a:spcBef>
              <a:buFont typeface="Arial" panose="020B0604020202020204" pitchFamily="34" charset="0"/>
              <a:buNone/>
            </a:pPr>
            <a:endParaRPr lang="en-US" altLang="en-US" sz="1800" dirty="0"/>
          </a:p>
          <a:p>
            <a:pPr marL="0" indent="0" algn="just">
              <a:lnSpc>
                <a:spcPct val="100000"/>
              </a:lnSpc>
              <a:spcBef>
                <a:spcPct val="0"/>
              </a:spcBef>
              <a:buFont typeface="Arial" panose="020B0604020202020204" pitchFamily="34" charset="0"/>
              <a:buNone/>
            </a:pPr>
            <a:endParaRPr lang="en-US" altLang="en-US" sz="1800" dirty="0"/>
          </a:p>
          <a:p>
            <a:pPr marL="0" indent="0">
              <a:lnSpc>
                <a:spcPct val="100000"/>
              </a:lnSpc>
              <a:spcBef>
                <a:spcPct val="0"/>
              </a:spcBef>
              <a:buFont typeface="Arial" panose="020B0604020202020204" pitchFamily="34" charset="0"/>
              <a:buNone/>
            </a:pPr>
            <a:endParaRPr lang="en-US" altLang="en-US" sz="1800" dirty="0"/>
          </a:p>
          <a:p>
            <a:pPr marL="0" indent="0">
              <a:lnSpc>
                <a:spcPct val="100000"/>
              </a:lnSpc>
              <a:spcBef>
                <a:spcPct val="0"/>
              </a:spcBef>
              <a:buFont typeface="Arial" panose="020B0604020202020204" pitchFamily="34" charset="0"/>
              <a:buNone/>
            </a:pPr>
            <a:endParaRPr lang="en-US" altLang="en-US" sz="1800" dirty="0"/>
          </a:p>
        </p:txBody>
      </p:sp>
      <p:pic>
        <p:nvPicPr>
          <p:cNvPr id="7174" name="Picture 4">
            <a:extLst>
              <a:ext uri="{FF2B5EF4-FFF2-40B4-BE49-F238E27FC236}">
                <a16:creationId xmlns:a16="http://schemas.microsoft.com/office/drawing/2014/main" id="{C38176E7-F485-30C9-EC7B-6902E44EE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4106863"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Rectangle 9">
            <a:extLst>
              <a:ext uri="{FF2B5EF4-FFF2-40B4-BE49-F238E27FC236}">
                <a16:creationId xmlns:a16="http://schemas.microsoft.com/office/drawing/2014/main" id="{878244B8-36D7-E6A9-23A2-778E4A2B8C9E}"/>
              </a:ext>
            </a:extLst>
          </p:cNvPr>
          <p:cNvSpPr>
            <a:spLocks noChangeArrowheads="1"/>
          </p:cNvSpPr>
          <p:nvPr/>
        </p:nvSpPr>
        <p:spPr bwMode="auto">
          <a:xfrm>
            <a:off x="0" y="-184150"/>
            <a:ext cx="2428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E4968-0B0A-8F51-BFDE-6428F705EF7A}"/>
              </a:ext>
            </a:extLst>
          </p:cNvPr>
          <p:cNvSpPr>
            <a:spLocks noGrp="1"/>
          </p:cNvSpPr>
          <p:nvPr>
            <p:ph type="title"/>
          </p:nvPr>
        </p:nvSpPr>
        <p:spPr>
          <a:xfrm>
            <a:off x="838200" y="365125"/>
            <a:ext cx="10515600" cy="1281113"/>
          </a:xfrm>
        </p:spPr>
        <p:txBody>
          <a:bodyPr/>
          <a:lstStyle/>
          <a:p>
            <a:r>
              <a:rPr lang="en-US" altLang="en-US" sz="3200" dirty="0">
                <a:latin typeface="Times New Roman" panose="02020603050405020304" pitchFamily="18" charset="0"/>
                <a:cs typeface="Times New Roman" panose="02020603050405020304" pitchFamily="18" charset="0"/>
              </a:rPr>
              <a:t>OBJECTIVES</a:t>
            </a:r>
            <a:br>
              <a:rPr lang="en-US" altLang="en-US" sz="3200" dirty="0"/>
            </a:br>
            <a:endParaRPr lang="en-IN" sz="3200" dirty="0"/>
          </a:p>
        </p:txBody>
      </p:sp>
      <p:sp>
        <p:nvSpPr>
          <p:cNvPr id="3" name="Content Placeholder 2">
            <a:extLst>
              <a:ext uri="{FF2B5EF4-FFF2-40B4-BE49-F238E27FC236}">
                <a16:creationId xmlns:a16="http://schemas.microsoft.com/office/drawing/2014/main" id="{92FE259B-0A6C-EFFC-EF7F-F373211627EF}"/>
              </a:ext>
            </a:extLst>
          </p:cNvPr>
          <p:cNvSpPr>
            <a:spLocks noGrp="1"/>
          </p:cNvSpPr>
          <p:nvPr>
            <p:ph idx="1"/>
          </p:nvPr>
        </p:nvSpPr>
        <p:spPr>
          <a:xfrm>
            <a:off x="838200" y="1371600"/>
            <a:ext cx="10515600" cy="4805363"/>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Design and implement a Convolutional Neural Network that can identify Diabetic Retinopathy from retinal images.</a:t>
            </a:r>
          </a:p>
          <a:p>
            <a:pPr algn="just">
              <a:lnSpc>
                <a:spcPct val="150000"/>
              </a:lnSpc>
            </a:pPr>
            <a:r>
              <a:rPr lang="en-US" sz="2000" dirty="0">
                <a:latin typeface="Times New Roman" panose="02020603050405020304" pitchFamily="18" charset="0"/>
                <a:cs typeface="Times New Roman" panose="02020603050405020304" pitchFamily="18" charset="0"/>
              </a:rPr>
              <a:t>Ensure consistent and accurate classification of retinal images as either healthy or affected by Diabetic Retinopathy.</a:t>
            </a:r>
          </a:p>
          <a:p>
            <a:pPr algn="just">
              <a:lnSpc>
                <a:spcPct val="150000"/>
              </a:lnSpc>
            </a:pPr>
            <a:r>
              <a:rPr lang="en-US" sz="2000" dirty="0">
                <a:latin typeface="Times New Roman" panose="02020603050405020304" pitchFamily="18" charset="0"/>
                <a:cs typeface="Times New Roman" panose="02020603050405020304" pitchFamily="18" charset="0"/>
              </a:rPr>
              <a:t>Design a user-friendly system that allows users to upload retinal images easily.</a:t>
            </a:r>
            <a:r>
              <a:rPr lang="en-US" sz="2000" dirty="0"/>
              <a:t> </a:t>
            </a:r>
          </a:p>
          <a:p>
            <a:pPr algn="just">
              <a:lnSpc>
                <a:spcPct val="150000"/>
              </a:lnSpc>
            </a:pPr>
            <a:r>
              <a:rPr lang="en-US" sz="2000" dirty="0">
                <a:latin typeface="Times New Roman" panose="02020603050405020304" pitchFamily="18" charset="0"/>
                <a:cs typeface="Times New Roman" panose="02020603050405020304" pitchFamily="18" charset="0"/>
              </a:rPr>
              <a:t>It Helps improve early diagnosis of diabetic retinopathy, helping in the prevention of severe vision loss.</a:t>
            </a:r>
          </a:p>
          <a:p>
            <a:pPr algn="just">
              <a:lnSpc>
                <a:spcPct val="150000"/>
              </a:lnSpc>
            </a:pPr>
            <a:r>
              <a:rPr lang="en-US" sz="2000" dirty="0">
                <a:latin typeface="Times New Roman" panose="02020603050405020304" pitchFamily="18" charset="0"/>
                <a:cs typeface="Times New Roman" panose="02020603050405020304" pitchFamily="18" charset="0"/>
              </a:rPr>
              <a:t>The System implement effective image preprocessing techniques to enhance retinal image quality and improve model accuracy.</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6085DDE-4614-D1A0-13AB-77BF3189D897}"/>
              </a:ext>
            </a:extLst>
          </p:cNvPr>
          <p:cNvSpPr>
            <a:spLocks noGrp="1"/>
          </p:cNvSpPr>
          <p:nvPr>
            <p:ph type="sldNum" sz="quarter" idx="12"/>
          </p:nvPr>
        </p:nvSpPr>
        <p:spPr/>
        <p:txBody>
          <a:bodyPr/>
          <a:lstStyle/>
          <a:p>
            <a:pPr>
              <a:defRPr/>
            </a:pPr>
            <a:fld id="{45FA3DB3-7000-46D7-8858-7CC600A9A651}" type="slidenum">
              <a:rPr lang="en-US" altLang="en-US" smtClean="0"/>
              <a:pPr>
                <a:defRPr/>
              </a:pPr>
              <a:t>5</a:t>
            </a:fld>
            <a:endParaRPr lang="en-US" altLang="en-US"/>
          </a:p>
        </p:txBody>
      </p:sp>
    </p:spTree>
    <p:extLst>
      <p:ext uri="{BB962C8B-B14F-4D97-AF65-F5344CB8AC3E}">
        <p14:creationId xmlns:p14="http://schemas.microsoft.com/office/powerpoint/2010/main" val="3104713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9FF2D-8C96-6945-D438-500C0A36328A}"/>
              </a:ext>
            </a:extLst>
          </p:cNvPr>
          <p:cNvSpPr>
            <a:spLocks noGrp="1"/>
          </p:cNvSpPr>
          <p:nvPr>
            <p:ph type="title"/>
          </p:nvPr>
        </p:nvSpPr>
        <p:spPr>
          <a:xfrm>
            <a:off x="838200" y="365125"/>
            <a:ext cx="10515600" cy="1127773"/>
          </a:xfrm>
        </p:spPr>
        <p:txBody>
          <a:bodyPr/>
          <a:lstStyle/>
          <a:p>
            <a:r>
              <a:rPr lang="en-IN" altLang="en-US" sz="3200" dirty="0">
                <a:latin typeface="Bookman Old Style" panose="02050604050505020204" pitchFamily="18" charset="0"/>
              </a:rPr>
              <a:t>REQUIREMENT SPECIFICATION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863FB3-CDBF-3648-6C1C-2512C84C4AE2}"/>
              </a:ext>
            </a:extLst>
          </p:cNvPr>
          <p:cNvSpPr>
            <a:spLocks noGrp="1"/>
          </p:cNvSpPr>
          <p:nvPr>
            <p:ph idx="1"/>
          </p:nvPr>
        </p:nvSpPr>
        <p:spPr>
          <a:xfrm>
            <a:off x="763555" y="1296955"/>
            <a:ext cx="10515600" cy="4674735"/>
          </a:xfrm>
        </p:spPr>
        <p:txBody>
          <a:bodyPr/>
          <a:lstStyle/>
          <a:p>
            <a:pPr marL="342900" indent="-342900">
              <a:lnSpc>
                <a:spcPct val="150000"/>
              </a:lnSpc>
              <a:buAutoNum type="arabicPeriod"/>
            </a:pPr>
            <a:r>
              <a:rPr lang="en-IN" sz="1600" dirty="0">
                <a:latin typeface="Times New Roman" panose="02020603050405020304" pitchFamily="18" charset="0"/>
                <a:cs typeface="Times New Roman" panose="02020603050405020304" pitchFamily="18" charset="0"/>
              </a:rPr>
              <a:t>Programming Language </a:t>
            </a:r>
          </a:p>
          <a:p>
            <a:pPr marL="0" indent="0">
              <a:lnSpc>
                <a:spcPct val="150000"/>
              </a:lnSpc>
              <a:buNone/>
            </a:pPr>
            <a:r>
              <a:rPr lang="en-IN" sz="1600" dirty="0">
                <a:latin typeface="Times New Roman" panose="02020603050405020304" pitchFamily="18" charset="0"/>
                <a:cs typeface="Times New Roman" panose="02020603050405020304" pitchFamily="18" charset="0"/>
              </a:rPr>
              <a:t>      Python :- Implements CNN algorithm</a:t>
            </a:r>
          </a:p>
          <a:p>
            <a:pPr marL="0" indent="0">
              <a:lnSpc>
                <a:spcPct val="150000"/>
              </a:lnSpc>
              <a:buNone/>
            </a:pPr>
            <a:r>
              <a:rPr lang="en-IN" sz="1600" dirty="0">
                <a:latin typeface="Times New Roman" panose="02020603050405020304" pitchFamily="18" charset="0"/>
                <a:cs typeface="Times New Roman" panose="02020603050405020304" pitchFamily="18" charset="0"/>
              </a:rPr>
              <a:t>2. </a:t>
            </a:r>
            <a:r>
              <a:rPr lang="en-US" altLang="en-US" sz="1600" dirty="0">
                <a:latin typeface="Times New Roman" panose="02020603050405020304" pitchFamily="18" charset="0"/>
                <a:cs typeface="Times New Roman" panose="02020603050405020304" pitchFamily="18" charset="0"/>
              </a:rPr>
              <a:t>Convolution Neural Network (CNN) model :- which </a:t>
            </a:r>
            <a:r>
              <a:rPr lang="en-US" sz="1600" dirty="0">
                <a:latin typeface="Times New Roman" panose="02020603050405020304" pitchFamily="18" charset="0"/>
                <a:cs typeface="Times New Roman" panose="02020603050405020304" pitchFamily="18" charset="0"/>
              </a:rPr>
              <a:t>extracts retinal features through convolution and pooling layers and accurately classifies diabetic retinopathy.</a:t>
            </a:r>
            <a:endParaRPr lang="en-US" altLang="en-US" sz="1600" dirty="0">
              <a:latin typeface="Times New Roman" panose="02020603050405020304" pitchFamily="18" charset="0"/>
              <a:cs typeface="Times New Roman" panose="02020603050405020304" pitchFamily="18" charset="0"/>
            </a:endParaRPr>
          </a:p>
          <a:p>
            <a:pPr marL="0" indent="0" fontAlgn="auto">
              <a:lnSpc>
                <a:spcPct val="100000"/>
              </a:lnSpc>
              <a:buNone/>
            </a:pPr>
            <a:r>
              <a:rPr lang="en-US" sz="1600" dirty="0">
                <a:latin typeface="Times New Roman" panose="02020603050405020304" pitchFamily="18" charset="0"/>
                <a:cs typeface="Times New Roman" panose="02020603050405020304" pitchFamily="18" charset="0"/>
              </a:rPr>
              <a:t>3. Libraries and Tools :</a:t>
            </a:r>
          </a:p>
          <a:p>
            <a:pPr fontAlgn="auto">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OpenCV</a:t>
            </a:r>
            <a:r>
              <a:rPr lang="en-US" sz="1600" dirty="0">
                <a:latin typeface="Times New Roman" panose="02020603050405020304" pitchFamily="18" charset="0"/>
                <a:cs typeface="Times New Roman" panose="02020603050405020304" pitchFamily="18" charset="0"/>
              </a:rPr>
              <a:t> :- OpenCV is used for image processing operations before feeding images to the CNN model.</a:t>
            </a:r>
          </a:p>
          <a:p>
            <a:pPr fontAlgn="auto">
              <a:lnSpc>
                <a:spcPct val="100000"/>
              </a:lnSpc>
              <a:buFont typeface="Wingdings" panose="05000000000000000000" pitchFamily="2" charset="2"/>
              <a:buChar char="§"/>
            </a:pPr>
            <a:r>
              <a:rPr lang="en-IN" sz="1600" b="1" dirty="0" err="1">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Provides an easy-to-use interface for building and training CNN Models</a:t>
            </a:r>
          </a:p>
          <a:p>
            <a:pPr fontAlgn="auto">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TensorFlow :- </a:t>
            </a:r>
            <a:r>
              <a:rPr lang="en-US" sz="1600" dirty="0">
                <a:latin typeface="Times New Roman" panose="02020603050405020304" pitchFamily="18" charset="0"/>
                <a:cs typeface="Times New Roman" panose="02020603050405020304" pitchFamily="18" charset="0"/>
              </a:rPr>
              <a:t> is used as the core deep learning framework that runs the CNN model</a:t>
            </a:r>
          </a:p>
          <a:p>
            <a:pPr fontAlgn="auto">
              <a:lnSpc>
                <a:spcPct val="100000"/>
              </a:lnSpc>
              <a:buFont typeface="Wingdings" panose="05000000000000000000" pitchFamily="2" charset="2"/>
              <a:buChar char="§"/>
            </a:pPr>
            <a:r>
              <a:rPr lang="en-US" sz="1600" b="1" dirty="0" err="1">
                <a:latin typeface="Times New Roman" panose="02020603050405020304" pitchFamily="18" charset="0"/>
                <a:cs typeface="Times New Roman" panose="02020603050405020304" pitchFamily="18" charset="0"/>
              </a:rPr>
              <a:t>Numpy</a:t>
            </a:r>
            <a:r>
              <a:rPr lang="en-US" sz="1600" dirty="0">
                <a:latin typeface="Times New Roman" panose="02020603050405020304" pitchFamily="18" charset="0"/>
                <a:cs typeface="Times New Roman" panose="02020603050405020304" pitchFamily="18" charset="0"/>
              </a:rPr>
              <a:t> :- is used for numerical operations and array manipulation.</a:t>
            </a:r>
          </a:p>
          <a:p>
            <a:pPr fontAlgn="auto">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Pandas</a:t>
            </a:r>
            <a:r>
              <a:rPr lang="en-US" sz="1600" dirty="0">
                <a:latin typeface="Times New Roman" panose="02020603050405020304" pitchFamily="18" charset="0"/>
                <a:cs typeface="Times New Roman" panose="02020603050405020304" pitchFamily="18" charset="0"/>
              </a:rPr>
              <a:t> :- Pandas is used for data handling and analysis, especially during model evaluation.</a:t>
            </a:r>
          </a:p>
          <a:p>
            <a:r>
              <a:rPr lang="en-US" sz="1600" b="1" dirty="0">
                <a:latin typeface="Times New Roman" panose="02020603050405020304" pitchFamily="18" charset="0"/>
                <a:cs typeface="Times New Roman" panose="02020603050405020304" pitchFamily="18" charset="0"/>
              </a:rPr>
              <a:t>HTML &amp; CSS </a:t>
            </a:r>
            <a:r>
              <a:rPr lang="en-US" sz="1600" dirty="0">
                <a:latin typeface="Times New Roman" panose="02020603050405020304" pitchFamily="18" charset="0"/>
                <a:cs typeface="Times New Roman" panose="02020603050405020304" pitchFamily="18" charset="0"/>
              </a:rPr>
              <a:t>:- HTML is used to design the structure of the web-based user interface, CSS is used to enhance the visual appearance of the web application.</a:t>
            </a:r>
          </a:p>
          <a:p>
            <a:endParaRPr lang="en-US" sz="1600" dirty="0">
              <a:latin typeface="Times New Roman" panose="02020603050405020304" pitchFamily="18" charset="0"/>
              <a:cs typeface="Times New Roman" panose="02020603050405020304" pitchFamily="18" charset="0"/>
            </a:endParaRPr>
          </a:p>
          <a:p>
            <a:pPr fontAlgn="auto">
              <a:lnSpc>
                <a:spcPct val="100000"/>
              </a:lnSpc>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fontAlgn="auto">
              <a:lnSpc>
                <a:spcPct val="100000"/>
              </a:lnSpc>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C3477A4-1B97-3C79-8340-C8FB16136926}"/>
              </a:ext>
            </a:extLst>
          </p:cNvPr>
          <p:cNvSpPr>
            <a:spLocks noGrp="1"/>
          </p:cNvSpPr>
          <p:nvPr>
            <p:ph type="sldNum" sz="quarter" idx="12"/>
          </p:nvPr>
        </p:nvSpPr>
        <p:spPr/>
        <p:txBody>
          <a:bodyPr/>
          <a:lstStyle/>
          <a:p>
            <a:pPr>
              <a:defRPr/>
            </a:pPr>
            <a:fld id="{45FA3DB3-7000-46D7-8858-7CC600A9A651}" type="slidenum">
              <a:rPr lang="en-US" altLang="en-US" smtClean="0"/>
              <a:pPr>
                <a:defRPr/>
              </a:pPr>
              <a:t>6</a:t>
            </a:fld>
            <a:endParaRPr lang="en-US" altLang="en-US"/>
          </a:p>
        </p:txBody>
      </p:sp>
    </p:spTree>
    <p:extLst>
      <p:ext uri="{BB962C8B-B14F-4D97-AF65-F5344CB8AC3E}">
        <p14:creationId xmlns:p14="http://schemas.microsoft.com/office/powerpoint/2010/main" val="391428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4C04-6782-3100-03C9-7406DC96F788}"/>
              </a:ext>
            </a:extLst>
          </p:cNvPr>
          <p:cNvSpPr>
            <a:spLocks noGrp="1"/>
          </p:cNvSpPr>
          <p:nvPr>
            <p:ph type="title"/>
          </p:nvPr>
        </p:nvSpPr>
        <p:spPr/>
        <p:txBody>
          <a:bodyPr/>
          <a:lstStyle/>
          <a:p>
            <a:r>
              <a:rPr lang="en-IN" sz="3200" b="1" dirty="0">
                <a:latin typeface="Times New Roman" panose="02020603050405020304" pitchFamily="18" charset="0"/>
                <a:ea typeface="Tahoma" panose="020B0604030504040204" pitchFamily="34" charset="0"/>
                <a:cs typeface="Times New Roman" panose="02020603050405020304" pitchFamily="18" charset="0"/>
              </a:rPr>
              <a:t>Block Diagram</a:t>
            </a:r>
          </a:p>
        </p:txBody>
      </p:sp>
      <p:pic>
        <p:nvPicPr>
          <p:cNvPr id="7" name="Content Placeholder 6">
            <a:extLst>
              <a:ext uri="{FF2B5EF4-FFF2-40B4-BE49-F238E27FC236}">
                <a16:creationId xmlns:a16="http://schemas.microsoft.com/office/drawing/2014/main" id="{1A5F8DA9-337A-E944-CABE-7256EBF1F1F6}"/>
              </a:ext>
            </a:extLst>
          </p:cNvPr>
          <p:cNvPicPr>
            <a:picLocks noGrp="1" noChangeAspect="1"/>
          </p:cNvPicPr>
          <p:nvPr>
            <p:ph idx="1"/>
          </p:nvPr>
        </p:nvPicPr>
        <p:blipFill>
          <a:blip r:embed="rId2"/>
          <a:stretch>
            <a:fillRect/>
          </a:stretch>
        </p:blipFill>
        <p:spPr>
          <a:xfrm>
            <a:off x="4321444" y="1253331"/>
            <a:ext cx="3674891" cy="5035032"/>
          </a:xfrm>
        </p:spPr>
      </p:pic>
      <p:sp>
        <p:nvSpPr>
          <p:cNvPr id="5" name="Slide Number Placeholder 4">
            <a:extLst>
              <a:ext uri="{FF2B5EF4-FFF2-40B4-BE49-F238E27FC236}">
                <a16:creationId xmlns:a16="http://schemas.microsoft.com/office/drawing/2014/main" id="{0AE332E3-E083-966D-80CA-2BBA3C886221}"/>
              </a:ext>
            </a:extLst>
          </p:cNvPr>
          <p:cNvSpPr>
            <a:spLocks noGrp="1"/>
          </p:cNvSpPr>
          <p:nvPr>
            <p:ph type="sldNum" sz="quarter" idx="12"/>
          </p:nvPr>
        </p:nvSpPr>
        <p:spPr/>
        <p:txBody>
          <a:bodyPr/>
          <a:lstStyle/>
          <a:p>
            <a:pPr>
              <a:defRPr/>
            </a:pPr>
            <a:fld id="{45FA3DB3-7000-46D7-8858-7CC600A9A651}" type="slidenum">
              <a:rPr lang="en-US" altLang="en-US" smtClean="0"/>
              <a:pPr>
                <a:defRPr/>
              </a:pPr>
              <a:t>7</a:t>
            </a:fld>
            <a:endParaRPr lang="en-US" altLang="en-US"/>
          </a:p>
        </p:txBody>
      </p:sp>
    </p:spTree>
    <p:extLst>
      <p:ext uri="{BB962C8B-B14F-4D97-AF65-F5344CB8AC3E}">
        <p14:creationId xmlns:p14="http://schemas.microsoft.com/office/powerpoint/2010/main" val="454886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F70A-3756-8A87-822B-F0E017BF5E29}"/>
              </a:ext>
            </a:extLst>
          </p:cNvPr>
          <p:cNvSpPr>
            <a:spLocks noGrp="1"/>
          </p:cNvSpPr>
          <p:nvPr>
            <p:ph type="title"/>
          </p:nvPr>
        </p:nvSpPr>
        <p:spPr>
          <a:xfrm>
            <a:off x="838200" y="365126"/>
            <a:ext cx="10515600" cy="810532"/>
          </a:xfrm>
        </p:spPr>
        <p:txBody>
          <a:bodyPr/>
          <a:lstStyle/>
          <a:p>
            <a:pPr algn="ct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METHODOLOGY</a:t>
            </a:r>
            <a:r>
              <a:rPr lang="en-IN" sz="3200" b="1" dirty="0"/>
              <a:t>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45B3A3-74DD-B89D-503D-67BC8F0AE2AD}"/>
              </a:ext>
            </a:extLst>
          </p:cNvPr>
          <p:cNvSpPr>
            <a:spLocks noGrp="1"/>
          </p:cNvSpPr>
          <p:nvPr>
            <p:ph idx="1"/>
          </p:nvPr>
        </p:nvSpPr>
        <p:spPr>
          <a:xfrm>
            <a:off x="838199" y="1475290"/>
            <a:ext cx="8716347" cy="4581428"/>
          </a:xfrm>
        </p:spPr>
        <p:txBody>
          <a:bodyPr/>
          <a:lstStyle/>
          <a:p>
            <a:pPr marL="0" indent="0" algn="just">
              <a:lnSpc>
                <a:spcPct val="100000"/>
              </a:lnSpc>
              <a:buNone/>
            </a:pPr>
            <a:r>
              <a:rPr lang="en-IN" sz="2000" b="1" dirty="0">
                <a:latin typeface="Times New Roman" panose="02020603050405020304" pitchFamily="18" charset="0"/>
                <a:cs typeface="Times New Roman" panose="02020603050405020304" pitchFamily="18" charset="0"/>
              </a:rPr>
              <a:t>1. Image Collection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Retinal fundus images are collected from available sources and stored in local system folders, all images are accessed directly from the file system.</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2. </a:t>
            </a:r>
            <a:r>
              <a:rPr lang="en-IN" sz="2000" b="1" dirty="0">
                <a:latin typeface="Times New Roman" panose="02020603050405020304" pitchFamily="18" charset="0"/>
                <a:cs typeface="Times New Roman" panose="02020603050405020304" pitchFamily="18" charset="0"/>
              </a:rPr>
              <a:t>Image Preprocessing</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Each retinal image is preprocessed to improve quality and consistency, This includes resizing the images to a fixed dimension, noise removal.</a:t>
            </a:r>
          </a:p>
          <a:p>
            <a:pPr marL="0" indent="0">
              <a:lnSpc>
                <a:spcPct val="100000"/>
              </a:lnSpc>
              <a:buNone/>
            </a:pPr>
            <a:r>
              <a:rPr lang="en-US" sz="2000" b="1"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Data Splitting</a:t>
            </a:r>
          </a:p>
          <a:p>
            <a:pPr marL="0" indent="0">
              <a:lnSpc>
                <a:spcPct val="100000"/>
              </a:lnSpc>
              <a:buNone/>
            </a:pPr>
            <a:r>
              <a:rPr lang="en-US" sz="2000" dirty="0">
                <a:latin typeface="Times New Roman" panose="02020603050405020304" pitchFamily="18" charset="0"/>
                <a:cs typeface="Times New Roman" panose="02020603050405020304" pitchFamily="18" charset="0"/>
              </a:rPr>
              <a:t>The dataset is divided into training and testing sets using a predefined ratio The split is performed directly on image folders.</a:t>
            </a:r>
            <a:endParaRPr lang="en-IN" sz="2000" dirty="0">
              <a:latin typeface="Times New Roman" panose="02020603050405020304" pitchFamily="18" charset="0"/>
              <a:cs typeface="Times New Roman" panose="02020603050405020304" pitchFamily="18" charset="0"/>
            </a:endParaRPr>
          </a:p>
          <a:p>
            <a:pPr marL="0" indent="0" algn="just">
              <a:lnSpc>
                <a:spcPct val="100000"/>
              </a:lnSpc>
              <a:buNone/>
            </a:pPr>
            <a:r>
              <a:rPr lang="en-IN" sz="2000" dirty="0">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CD919306-3BDC-6AE7-28F7-473BBF2E15D8}"/>
              </a:ext>
            </a:extLst>
          </p:cNvPr>
          <p:cNvSpPr>
            <a:spLocks noGrp="1"/>
          </p:cNvSpPr>
          <p:nvPr>
            <p:ph type="sldNum" sz="quarter" idx="12"/>
          </p:nvPr>
        </p:nvSpPr>
        <p:spPr/>
        <p:txBody>
          <a:bodyPr/>
          <a:lstStyle/>
          <a:p>
            <a:pPr>
              <a:defRPr/>
            </a:pPr>
            <a:fld id="{45FA3DB3-7000-46D7-8858-7CC600A9A651}" type="slidenum">
              <a:rPr lang="en-US" altLang="en-US" smtClean="0"/>
              <a:pPr>
                <a:defRPr/>
              </a:pPr>
              <a:t>8</a:t>
            </a:fld>
            <a:endParaRPr lang="en-US" altLang="en-US"/>
          </a:p>
        </p:txBody>
      </p:sp>
    </p:spTree>
    <p:extLst>
      <p:ext uri="{BB962C8B-B14F-4D97-AF65-F5344CB8AC3E}">
        <p14:creationId xmlns:p14="http://schemas.microsoft.com/office/powerpoint/2010/main" val="47579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A260-DA47-4A80-6033-3FB02FD3E739}"/>
              </a:ext>
            </a:extLst>
          </p:cNvPr>
          <p:cNvSpPr>
            <a:spLocks noGrp="1"/>
          </p:cNvSpPr>
          <p:nvPr>
            <p:ph type="title"/>
          </p:nvPr>
        </p:nvSpPr>
        <p:spPr>
          <a:xfrm>
            <a:off x="838200" y="365126"/>
            <a:ext cx="10515600" cy="222704"/>
          </a:xfrm>
        </p:spPr>
        <p:txBody>
          <a:bodyPr/>
          <a:lstStyle/>
          <a:p>
            <a:endParaRPr lang="en-IN" dirty="0"/>
          </a:p>
        </p:txBody>
      </p:sp>
      <p:sp>
        <p:nvSpPr>
          <p:cNvPr id="3" name="Content Placeholder 2">
            <a:extLst>
              <a:ext uri="{FF2B5EF4-FFF2-40B4-BE49-F238E27FC236}">
                <a16:creationId xmlns:a16="http://schemas.microsoft.com/office/drawing/2014/main" id="{33511A51-D1E2-D2B1-9795-A87F5A5E7401}"/>
              </a:ext>
            </a:extLst>
          </p:cNvPr>
          <p:cNvSpPr>
            <a:spLocks noGrp="1"/>
          </p:cNvSpPr>
          <p:nvPr>
            <p:ph idx="1"/>
          </p:nvPr>
        </p:nvSpPr>
        <p:spPr>
          <a:xfrm>
            <a:off x="838200" y="811764"/>
            <a:ext cx="10515600" cy="5365200"/>
          </a:xfrm>
        </p:spPr>
        <p:txBody>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4. CNN Model Construction</a:t>
            </a:r>
          </a:p>
          <a:p>
            <a:pPr marL="0" indent="0">
              <a:lnSpc>
                <a:spcPct val="150000"/>
              </a:lnSpc>
              <a:buNone/>
            </a:pPr>
            <a:r>
              <a:rPr lang="en-US" sz="2000" dirty="0">
                <a:latin typeface="Times New Roman" panose="02020603050405020304" pitchFamily="18" charset="0"/>
                <a:cs typeface="Times New Roman" panose="02020603050405020304" pitchFamily="18" charset="0"/>
              </a:rPr>
              <a:t>A Convolutional Neural Network is designed using multiple convolutional, pooling, and activation layers. The CNN automatically extracts important features from retinal images that are relevant for diabetic retinopathy detection.</a:t>
            </a:r>
          </a:p>
          <a:p>
            <a:pPr marL="0" indent="0">
              <a:lnSpc>
                <a:spcPct val="150000"/>
              </a:lnSpc>
              <a:buNone/>
            </a:pPr>
            <a:r>
              <a:rPr lang="en-US" sz="2000" b="1" dirty="0">
                <a:latin typeface="Times New Roman" panose="02020603050405020304" pitchFamily="18" charset="0"/>
                <a:cs typeface="Times New Roman" panose="02020603050405020304" pitchFamily="18" charset="0"/>
              </a:rPr>
              <a:t>5. Model Training</a:t>
            </a:r>
          </a:p>
          <a:p>
            <a:pPr marL="0" indent="0">
              <a:lnSpc>
                <a:spcPct val="150000"/>
              </a:lnSpc>
              <a:buNone/>
            </a:pPr>
            <a:r>
              <a:rPr lang="en-US" sz="2000" dirty="0">
                <a:latin typeface="Times New Roman" panose="02020603050405020304" pitchFamily="18" charset="0"/>
                <a:cs typeface="Times New Roman" panose="02020603050405020304" pitchFamily="18" charset="0"/>
              </a:rPr>
              <a:t>The CNN model is trained using the training image set. During training, weights are optimized using backpropagation and an appropriate optimizer. </a:t>
            </a:r>
          </a:p>
          <a:p>
            <a:pPr marL="0" indent="0">
              <a:lnSpc>
                <a:spcPct val="150000"/>
              </a:lnSpc>
              <a:buNone/>
            </a:pPr>
            <a:r>
              <a:rPr lang="en-US" sz="2000" b="1" dirty="0">
                <a:latin typeface="Times New Roman" panose="02020603050405020304" pitchFamily="18" charset="0"/>
                <a:cs typeface="Times New Roman" panose="02020603050405020304" pitchFamily="18" charset="0"/>
              </a:rPr>
              <a:t>6. Model Evaluation</a:t>
            </a:r>
          </a:p>
          <a:p>
            <a:pPr marL="0" indent="0">
              <a:lnSpc>
                <a:spcPct val="150000"/>
              </a:lnSpc>
              <a:buNone/>
            </a:pPr>
            <a:r>
              <a:rPr lang="en-US" sz="2000" dirty="0">
                <a:latin typeface="Times New Roman" panose="02020603050405020304" pitchFamily="18" charset="0"/>
                <a:cs typeface="Times New Roman" panose="02020603050405020304" pitchFamily="18" charset="0"/>
              </a:rPr>
              <a:t>The trained model is evaluated using the test image set. Performance is measured using accuracy to give the effectiveness of the detection system.</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pPr>
            <a:endParaRPr lang="en-IN" dirty="0"/>
          </a:p>
        </p:txBody>
      </p:sp>
      <p:sp>
        <p:nvSpPr>
          <p:cNvPr id="5" name="Slide Number Placeholder 4">
            <a:extLst>
              <a:ext uri="{FF2B5EF4-FFF2-40B4-BE49-F238E27FC236}">
                <a16:creationId xmlns:a16="http://schemas.microsoft.com/office/drawing/2014/main" id="{521E9D4F-30FB-3C87-E541-F65F7707EBD2}"/>
              </a:ext>
            </a:extLst>
          </p:cNvPr>
          <p:cNvSpPr>
            <a:spLocks noGrp="1"/>
          </p:cNvSpPr>
          <p:nvPr>
            <p:ph type="sldNum" sz="quarter" idx="12"/>
          </p:nvPr>
        </p:nvSpPr>
        <p:spPr/>
        <p:txBody>
          <a:bodyPr/>
          <a:lstStyle/>
          <a:p>
            <a:pPr>
              <a:defRPr/>
            </a:pPr>
            <a:fld id="{45FA3DB3-7000-46D7-8858-7CC600A9A651}" type="slidenum">
              <a:rPr lang="en-US" altLang="en-US" smtClean="0"/>
              <a:pPr>
                <a:defRPr/>
              </a:pPr>
              <a:t>9</a:t>
            </a:fld>
            <a:endParaRPr lang="en-US" altLang="en-US"/>
          </a:p>
        </p:txBody>
      </p:sp>
    </p:spTree>
    <p:extLst>
      <p:ext uri="{BB962C8B-B14F-4D97-AF65-F5344CB8AC3E}">
        <p14:creationId xmlns:p14="http://schemas.microsoft.com/office/powerpoint/2010/main" val="1040605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7DB0-1C23-15AC-8B2C-1070A5112930}"/>
              </a:ext>
            </a:extLst>
          </p:cNvPr>
          <p:cNvSpPr>
            <a:spLocks noGrp="1"/>
          </p:cNvSpPr>
          <p:nvPr>
            <p:ph type="title"/>
          </p:nvPr>
        </p:nvSpPr>
        <p:spPr>
          <a:xfrm>
            <a:off x="838200" y="365126"/>
            <a:ext cx="10515600" cy="315912"/>
          </a:xfrm>
        </p:spPr>
        <p:txBody>
          <a:bodyPr/>
          <a:lstStyle/>
          <a:p>
            <a:endParaRPr lang="en-IN" dirty="0"/>
          </a:p>
        </p:txBody>
      </p:sp>
      <p:sp>
        <p:nvSpPr>
          <p:cNvPr id="3" name="Content Placeholder 2">
            <a:extLst>
              <a:ext uri="{FF2B5EF4-FFF2-40B4-BE49-F238E27FC236}">
                <a16:creationId xmlns:a16="http://schemas.microsoft.com/office/drawing/2014/main" id="{95972F64-4324-E400-B013-AA56B1430A6E}"/>
              </a:ext>
            </a:extLst>
          </p:cNvPr>
          <p:cNvSpPr>
            <a:spLocks noGrp="1"/>
          </p:cNvSpPr>
          <p:nvPr>
            <p:ph idx="1"/>
          </p:nvPr>
        </p:nvSpPr>
        <p:spPr>
          <a:xfrm>
            <a:off x="838200" y="1054359"/>
            <a:ext cx="10515600" cy="5122604"/>
          </a:xfrm>
        </p:spPr>
        <p:txBody>
          <a:bodyPr/>
          <a:lstStyle/>
          <a:p>
            <a:pPr marL="0" indent="0">
              <a:lnSpc>
                <a:spcPct val="150000"/>
              </a:lnSpc>
              <a:buNone/>
            </a:pPr>
            <a:r>
              <a:rPr lang="en-IN" sz="2000" dirty="0">
                <a:latin typeface="Times New Roman" panose="02020603050405020304" pitchFamily="18" charset="0"/>
                <a:cs typeface="Times New Roman" panose="02020603050405020304" pitchFamily="18" charset="0"/>
              </a:rPr>
              <a:t>7. </a:t>
            </a:r>
            <a:r>
              <a:rPr lang="en-US" sz="2000" b="1" dirty="0">
                <a:latin typeface="Times New Roman" panose="02020603050405020304" pitchFamily="18" charset="0"/>
                <a:cs typeface="Times New Roman" panose="02020603050405020304" pitchFamily="18" charset="0"/>
              </a:rPr>
              <a:t>Prediction and Classification</a:t>
            </a:r>
          </a:p>
          <a:p>
            <a:pPr marL="0" indent="0">
              <a:lnSpc>
                <a:spcPct val="150000"/>
              </a:lnSpc>
              <a:buNone/>
            </a:pPr>
            <a:r>
              <a:rPr lang="en-US" sz="2000" dirty="0">
                <a:latin typeface="Times New Roman" panose="02020603050405020304" pitchFamily="18" charset="0"/>
                <a:cs typeface="Times New Roman" panose="02020603050405020304" pitchFamily="18" charset="0"/>
              </a:rPr>
              <a:t>For prediction, a retinal image is uploaded or selected from a local folder. The image is preprocessed and passed through the trained CNN model, which classifies it as </a:t>
            </a:r>
            <a:r>
              <a:rPr lang="en-US" sz="2000" i="1" dirty="0">
                <a:latin typeface="Times New Roman" panose="02020603050405020304" pitchFamily="18" charset="0"/>
                <a:cs typeface="Times New Roman" panose="02020603050405020304" pitchFamily="18" charset="0"/>
              </a:rPr>
              <a:t>Normal, Mild, or</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Diabetic Retinopathy</a:t>
            </a:r>
            <a:r>
              <a:rPr lang="en-US" sz="2000" dirty="0">
                <a:latin typeface="Times New Roman" panose="02020603050405020304" pitchFamily="18" charset="0"/>
                <a:cs typeface="Times New Roman" panose="02020603050405020304" pitchFamily="18" charset="0"/>
              </a:rPr>
              <a:t>.</a:t>
            </a:r>
          </a:p>
          <a:p>
            <a:pPr marL="0" indent="0">
              <a:lnSpc>
                <a:spcPct val="150000"/>
              </a:lnSpc>
              <a:buNone/>
            </a:pPr>
            <a:r>
              <a:rPr lang="en-US" sz="2000" b="1" dirty="0">
                <a:latin typeface="Times New Roman" panose="02020603050405020304" pitchFamily="18" charset="0"/>
                <a:cs typeface="Times New Roman" panose="02020603050405020304" pitchFamily="18" charset="0"/>
              </a:rPr>
              <a:t>8. Result Display</a:t>
            </a:r>
          </a:p>
          <a:p>
            <a:pPr marL="0" indent="0">
              <a:lnSpc>
                <a:spcPct val="150000"/>
              </a:lnSpc>
              <a:buNone/>
            </a:pPr>
            <a:r>
              <a:rPr lang="en-US" sz="2000" dirty="0">
                <a:latin typeface="Times New Roman" panose="02020603050405020304" pitchFamily="18" charset="0"/>
                <a:cs typeface="Times New Roman" panose="02020603050405020304" pitchFamily="18" charset="0"/>
              </a:rPr>
              <a:t>The Prediction result is displayed through the console with the Accuracy of  Diabetics as a Positive or Negative</a:t>
            </a:r>
          </a:p>
          <a:p>
            <a:pPr marL="0" indent="0">
              <a:lnSpc>
                <a:spcPct val="150000"/>
              </a:lnSpc>
              <a:buNone/>
            </a:pP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C8E81A1-E343-7B6E-401D-1468501989A5}"/>
              </a:ext>
            </a:extLst>
          </p:cNvPr>
          <p:cNvSpPr>
            <a:spLocks noGrp="1"/>
          </p:cNvSpPr>
          <p:nvPr>
            <p:ph type="sldNum" sz="quarter" idx="12"/>
          </p:nvPr>
        </p:nvSpPr>
        <p:spPr/>
        <p:txBody>
          <a:bodyPr/>
          <a:lstStyle/>
          <a:p>
            <a:pPr>
              <a:defRPr/>
            </a:pPr>
            <a:fld id="{45FA3DB3-7000-46D7-8858-7CC600A9A651}" type="slidenum">
              <a:rPr lang="en-US" altLang="en-US" smtClean="0"/>
              <a:pPr>
                <a:defRPr/>
              </a:pPr>
              <a:t>10</a:t>
            </a:fld>
            <a:endParaRPr lang="en-US" altLang="en-US"/>
          </a:p>
        </p:txBody>
      </p:sp>
    </p:spTree>
    <p:extLst>
      <p:ext uri="{BB962C8B-B14F-4D97-AF65-F5344CB8AC3E}">
        <p14:creationId xmlns:p14="http://schemas.microsoft.com/office/powerpoint/2010/main" val="4141811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EAE6133B-51BE-0504-4D2F-178538253897}"/>
              </a:ext>
            </a:extLst>
          </p:cNvPr>
          <p:cNvSpPr>
            <a:spLocks noGrp="1" noChangeArrowheads="1"/>
          </p:cNvSpPr>
          <p:nvPr>
            <p:ph type="title"/>
          </p:nvPr>
        </p:nvSpPr>
        <p:spPr/>
        <p:txBody>
          <a:bodyPr/>
          <a:lstStyle/>
          <a:p>
            <a:r>
              <a:rPr lang="en-US" altLang="en-US" sz="3200" b="1" dirty="0">
                <a:latin typeface="Times New Roman" panose="02020603050405020304" pitchFamily="18" charset="0"/>
                <a:cs typeface="Times New Roman" panose="02020603050405020304" pitchFamily="18" charset="0"/>
              </a:rPr>
              <a:t> SYSTEM LEVEL DIAGRAM</a:t>
            </a:r>
            <a:br>
              <a:rPr lang="en-US" altLang="en-US" sz="3200" b="1" dirty="0">
                <a:latin typeface="Times New Roman" panose="02020603050405020304" pitchFamily="18" charset="0"/>
                <a:cs typeface="Times New Roman" panose="02020603050405020304" pitchFamily="18" charset="0"/>
              </a:rPr>
            </a:br>
            <a:endParaRPr lang="en-IN" altLang="en-US" sz="3200" b="1" dirty="0">
              <a:latin typeface="Times New Roman" panose="02020603050405020304" pitchFamily="18" charset="0"/>
              <a:cs typeface="Times New Roman" panose="02020603050405020304" pitchFamily="18" charset="0"/>
            </a:endParaRPr>
          </a:p>
        </p:txBody>
      </p:sp>
      <p:sp>
        <p:nvSpPr>
          <p:cNvPr id="10244" name="Slide Number Placeholder 4">
            <a:extLst>
              <a:ext uri="{FF2B5EF4-FFF2-40B4-BE49-F238E27FC236}">
                <a16:creationId xmlns:a16="http://schemas.microsoft.com/office/drawing/2014/main" id="{292722F6-77E2-4F09-2CCC-41479D45A6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E7B14B1-78C8-43D3-A7D5-C1E17D53FD26}" type="slidenum">
              <a:rPr lang="en-US" altLang="en-US" sz="1200" smtClean="0">
                <a:solidFill>
                  <a:srgbClr val="898989"/>
                </a:solidFill>
              </a:rPr>
              <a:pPr>
                <a:lnSpc>
                  <a:spcPct val="100000"/>
                </a:lnSpc>
                <a:spcBef>
                  <a:spcPct val="0"/>
                </a:spcBef>
                <a:buFontTx/>
                <a:buNone/>
              </a:pPr>
              <a:t>11</a:t>
            </a:fld>
            <a:endParaRPr lang="en-US" altLang="en-US" sz="1200">
              <a:solidFill>
                <a:srgbClr val="898989"/>
              </a:solidFill>
            </a:endParaRPr>
          </a:p>
        </p:txBody>
      </p:sp>
      <p:sp>
        <p:nvSpPr>
          <p:cNvPr id="6" name="TextBox 5">
            <a:extLst>
              <a:ext uri="{FF2B5EF4-FFF2-40B4-BE49-F238E27FC236}">
                <a16:creationId xmlns:a16="http://schemas.microsoft.com/office/drawing/2014/main" id="{68CE9460-1B3F-CF89-D464-A1DF9E42378F}"/>
              </a:ext>
            </a:extLst>
          </p:cNvPr>
          <p:cNvSpPr txBox="1"/>
          <p:nvPr/>
        </p:nvSpPr>
        <p:spPr>
          <a:xfrm>
            <a:off x="2509934" y="5127664"/>
            <a:ext cx="4711959" cy="30777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Figure</a:t>
            </a:r>
            <a:r>
              <a:rPr lang="en-IN" sz="1400" dirty="0">
                <a:latin typeface="Times New Roman" panose="02020603050405020304" pitchFamily="18" charset="0"/>
                <a:cs typeface="Times New Roman" panose="02020603050405020304" pitchFamily="18" charset="0"/>
              </a:rPr>
              <a:t> :- The System level Diagram </a:t>
            </a:r>
          </a:p>
        </p:txBody>
      </p:sp>
      <p:pic>
        <p:nvPicPr>
          <p:cNvPr id="12" name="Content Placeholder 11">
            <a:extLst>
              <a:ext uri="{FF2B5EF4-FFF2-40B4-BE49-F238E27FC236}">
                <a16:creationId xmlns:a16="http://schemas.microsoft.com/office/drawing/2014/main" id="{9ED3DFF0-73C7-2203-4C1A-FFF7D611DA58}"/>
              </a:ext>
            </a:extLst>
          </p:cNvPr>
          <p:cNvPicPr>
            <a:picLocks noGrp="1" noChangeAspect="1"/>
          </p:cNvPicPr>
          <p:nvPr>
            <p:ph idx="1"/>
          </p:nvPr>
        </p:nvPicPr>
        <p:blipFill>
          <a:blip r:embed="rId2"/>
          <a:stretch>
            <a:fillRect/>
          </a:stretch>
        </p:blipFill>
        <p:spPr>
          <a:xfrm>
            <a:off x="2435289" y="1422559"/>
            <a:ext cx="6967012" cy="3458914"/>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1343C0D-472B-D406-3B38-40AE43AF43E0}"/>
              </a:ext>
            </a:extLst>
          </p:cNvPr>
          <p:cNvSpPr>
            <a:spLocks noGrp="1"/>
          </p:cNvSpPr>
          <p:nvPr>
            <p:ph type="sldNum" sz="quarter" idx="12"/>
          </p:nvPr>
        </p:nvSpPr>
        <p:spPr/>
        <p:txBody>
          <a:bodyPr/>
          <a:lstStyle/>
          <a:p>
            <a:pPr>
              <a:defRPr/>
            </a:pPr>
            <a:fld id="{45FA3DB3-7000-46D7-8858-7CC600A9A651}" type="slidenum">
              <a:rPr lang="en-US" altLang="en-US" smtClean="0"/>
              <a:pPr>
                <a:defRPr/>
              </a:pPr>
              <a:t>12</a:t>
            </a:fld>
            <a:endParaRPr lang="en-US" altLang="en-US"/>
          </a:p>
        </p:txBody>
      </p:sp>
      <p:sp>
        <p:nvSpPr>
          <p:cNvPr id="7" name="Rectangle 2">
            <a:extLst>
              <a:ext uri="{FF2B5EF4-FFF2-40B4-BE49-F238E27FC236}">
                <a16:creationId xmlns:a16="http://schemas.microsoft.com/office/drawing/2014/main" id="{FF582404-C173-59D4-22A0-7E953A2700FD}"/>
              </a:ext>
            </a:extLst>
          </p:cNvPr>
          <p:cNvSpPr>
            <a:spLocks noGrp="1" noChangeArrowheads="1"/>
          </p:cNvSpPr>
          <p:nvPr>
            <p:ph idx="1"/>
          </p:nvPr>
        </p:nvSpPr>
        <p:spPr bwMode="auto">
          <a:xfrm>
            <a:off x="482081" y="700297"/>
            <a:ext cx="11041225"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nSpc>
                <a:spcPct val="150000"/>
              </a:lnSpc>
              <a:spcBef>
                <a:spcPct val="0"/>
              </a:spcBef>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Image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Retinal image is taken as input and resized to a fixed size. </a:t>
            </a:r>
            <a:r>
              <a:rPr lang="en-US" sz="1800" dirty="0">
                <a:latin typeface="Times New Roman" panose="02020603050405020304" pitchFamily="18" charset="0"/>
                <a:cs typeface="Times New Roman" panose="02020603050405020304" pitchFamily="18" charset="0"/>
              </a:rPr>
              <a:t>Each pixel value represents the raw data that the CNN will analyze.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nSpc>
                <a:spcPct val="150000"/>
              </a:lnSpc>
              <a:spcBef>
                <a:spcPct val="0"/>
              </a:spcBef>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is normalized to improve quality and remove noise. </a:t>
            </a:r>
            <a:r>
              <a:rPr lang="en-US" sz="1800" dirty="0">
                <a:latin typeface="Times New Roman" panose="02020603050405020304" pitchFamily="18" charset="0"/>
                <a:cs typeface="Times New Roman" panose="02020603050405020304" pitchFamily="18" charset="0"/>
              </a:rPr>
              <a:t>Filters slide over the image to detect low-level features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scans the image using filters to find important features such as blood vessels and lesions.</a:t>
            </a:r>
          </a:p>
          <a:p>
            <a:pPr marL="0" lvl="0" indent="0">
              <a:lnSpc>
                <a:spcPct val="150000"/>
              </a:lnSpc>
              <a:spcBef>
                <a:spcPct val="0"/>
              </a:spcBef>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Activation Layer</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Removes unnecessary values and keeps useful information. </a:t>
            </a:r>
            <a:r>
              <a:rPr lang="en-US" sz="1800" dirty="0">
                <a:latin typeface="Times New Roman" panose="02020603050405020304" pitchFamily="18" charset="0"/>
                <a:cs typeface="Times New Roman" panose="02020603050405020304" pitchFamily="18" charset="0"/>
              </a:rPr>
              <a:t>which combine the features to make predictions.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nSpc>
                <a:spcPct val="150000"/>
              </a:lnSpc>
              <a:spcBef>
                <a:spcPct val="0"/>
              </a:spcBef>
              <a:buFontTx/>
              <a:buChar char="•"/>
            </a:pPr>
            <a:r>
              <a:rPr lang="en-US" sz="1800" b="1" dirty="0">
                <a:latin typeface="Times New Roman" panose="02020603050405020304" pitchFamily="18" charset="0"/>
                <a:cs typeface="Times New Roman" panose="02020603050405020304" pitchFamily="18" charset="0"/>
              </a:rPr>
              <a:t>Pooling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Reduces image size while keeping important features.</a:t>
            </a:r>
          </a:p>
          <a:p>
            <a:pPr marL="0" lvl="0" indent="0">
              <a:lnSpc>
                <a:spcPct val="150000"/>
              </a:lnSpc>
              <a:spcBef>
                <a:spcPct val="0"/>
              </a:spcBef>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606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856BE-4793-C693-3C32-227C6EE6B0BF}"/>
              </a:ext>
            </a:extLst>
          </p:cNvPr>
          <p:cNvSpPr>
            <a:spLocks noGrp="1"/>
          </p:cNvSpPr>
          <p:nvPr>
            <p:ph idx="1"/>
          </p:nvPr>
        </p:nvSpPr>
        <p:spPr>
          <a:xfrm>
            <a:off x="838200" y="942392"/>
            <a:ext cx="10515600" cy="5234571"/>
          </a:xfrm>
        </p:spPr>
        <p:txBody>
          <a:bodyPr/>
          <a:lstStyle/>
          <a:p>
            <a:pPr>
              <a:lnSpc>
                <a:spcPct val="150000"/>
              </a:lnSpc>
            </a:pPr>
            <a:r>
              <a:rPr lang="en-US" sz="1800" b="1" dirty="0">
                <a:latin typeface="Times New Roman" panose="02020603050405020304" pitchFamily="18" charset="0"/>
                <a:cs typeface="Times New Roman" panose="02020603050405020304" pitchFamily="18" charset="0"/>
              </a:rPr>
              <a:t>Repeat CNN Layers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again it </a:t>
            </a:r>
            <a:r>
              <a:rPr lang="en-US" sz="1800" dirty="0" err="1">
                <a:latin typeface="Times New Roman" panose="02020603050405020304" pitchFamily="18" charset="0"/>
                <a:cs typeface="Times New Roman" panose="02020603050405020304" pitchFamily="18" charset="0"/>
              </a:rPr>
              <a:t>repeates</a:t>
            </a:r>
            <a:r>
              <a:rPr lang="en-US" sz="1800" dirty="0">
                <a:latin typeface="Times New Roman" panose="02020603050405020304" pitchFamily="18" charset="0"/>
                <a:cs typeface="Times New Roman" panose="02020603050405020304" pitchFamily="18" charset="0"/>
              </a:rPr>
              <a:t> 3–5 times to learn deeper patterns.</a:t>
            </a:r>
          </a:p>
          <a:p>
            <a:pPr>
              <a:lnSpc>
                <a:spcPct val="150000"/>
              </a:lnSpc>
            </a:pPr>
            <a:r>
              <a:rPr lang="en-US" sz="1800" b="1" dirty="0">
                <a:latin typeface="Times New Roman" panose="02020603050405020304" pitchFamily="18" charset="0"/>
                <a:cs typeface="Times New Roman" panose="02020603050405020304" pitchFamily="18" charset="0"/>
              </a:rPr>
              <a:t>Fully Connected Layer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Learns the difference between normal and affected images. It will helps classify the Results</a:t>
            </a:r>
          </a:p>
          <a:p>
            <a:pPr>
              <a:lnSpc>
                <a:spcPct val="150000"/>
              </a:lnSpc>
            </a:pPr>
            <a:r>
              <a:rPr lang="en-US" sz="1800" b="1" dirty="0">
                <a:latin typeface="Times New Roman" panose="02020603050405020304" pitchFamily="18" charset="0"/>
                <a:cs typeface="Times New Roman" panose="02020603050405020304" pitchFamily="18" charset="0"/>
              </a:rPr>
              <a:t>Output Layer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Gives final result: Positive or</a:t>
            </a:r>
          </a:p>
          <a:p>
            <a:pPr marL="0" indent="0">
              <a:lnSpc>
                <a:spcPct val="150000"/>
              </a:lnSpc>
              <a:buNone/>
            </a:pPr>
            <a:r>
              <a:rPr lang="en-US" sz="1800" dirty="0">
                <a:latin typeface="Times New Roman" panose="02020603050405020304" pitchFamily="18" charset="0"/>
                <a:cs typeface="Times New Roman" panose="02020603050405020304" pitchFamily="18" charset="0"/>
              </a:rPr>
              <a:t>		 Negative Diabetic Retinopathy</a:t>
            </a:r>
          </a:p>
          <a:p>
            <a:pPr>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E468BF1-9BF6-4570-9A7C-108DB6B70FCF}"/>
              </a:ext>
            </a:extLst>
          </p:cNvPr>
          <p:cNvSpPr>
            <a:spLocks noGrp="1"/>
          </p:cNvSpPr>
          <p:nvPr>
            <p:ph type="sldNum" sz="quarter" idx="12"/>
          </p:nvPr>
        </p:nvSpPr>
        <p:spPr/>
        <p:txBody>
          <a:bodyPr/>
          <a:lstStyle/>
          <a:p>
            <a:pPr>
              <a:defRPr/>
            </a:pPr>
            <a:fld id="{45FA3DB3-7000-46D7-8858-7CC600A9A651}" type="slidenum">
              <a:rPr lang="en-US" altLang="en-US" smtClean="0"/>
              <a:pPr>
                <a:defRPr/>
              </a:pPr>
              <a:t>13</a:t>
            </a:fld>
            <a:endParaRPr lang="en-US" altLang="en-US"/>
          </a:p>
        </p:txBody>
      </p:sp>
    </p:spTree>
    <p:extLst>
      <p:ext uri="{BB962C8B-B14F-4D97-AF65-F5344CB8AC3E}">
        <p14:creationId xmlns:p14="http://schemas.microsoft.com/office/powerpoint/2010/main" val="1065937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3EB6-78B1-5007-CC95-4B821A25FEA7}"/>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ALGORITHM</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091FC3-2FF9-8E77-327B-6737F7E37218}"/>
              </a:ext>
            </a:extLst>
          </p:cNvPr>
          <p:cNvSpPr>
            <a:spLocks noGrp="1"/>
          </p:cNvSpPr>
          <p:nvPr>
            <p:ph idx="1"/>
          </p:nvPr>
        </p:nvSpPr>
        <p:spPr>
          <a:xfrm>
            <a:off x="838200" y="1390261"/>
            <a:ext cx="10515600" cy="4786702"/>
          </a:xfrm>
        </p:spPr>
        <p:txBody>
          <a:bodyPr/>
          <a:lstStyle/>
          <a:p>
            <a:pPr algn="just">
              <a:lnSpc>
                <a:spcPct val="100000"/>
              </a:lnSpc>
            </a:pPr>
            <a:r>
              <a:rPr lang="en-US" sz="1800" b="1" dirty="0">
                <a:latin typeface="Times New Roman" panose="02020603050405020304" pitchFamily="18" charset="0"/>
                <a:cs typeface="Times New Roman" panose="02020603050405020304" pitchFamily="18" charset="0"/>
              </a:rPr>
              <a:t>Step 1: Start</a:t>
            </a:r>
          </a:p>
          <a:p>
            <a:pPr algn="just">
              <a:lnSpc>
                <a:spcPct val="100000"/>
              </a:lnSpc>
            </a:pPr>
            <a:r>
              <a:rPr lang="en-US" sz="1800" dirty="0">
                <a:latin typeface="Times New Roman" panose="02020603050405020304" pitchFamily="18" charset="0"/>
                <a:cs typeface="Times New Roman" panose="02020603050405020304" pitchFamily="18" charset="0"/>
              </a:rPr>
              <a:t>Initialize the system and load the required Python libraries.</a:t>
            </a:r>
          </a:p>
          <a:p>
            <a:pPr algn="just">
              <a:lnSpc>
                <a:spcPct val="100000"/>
              </a:lnSpc>
            </a:pPr>
            <a:r>
              <a:rPr lang="en-US" sz="1800" b="1" dirty="0">
                <a:latin typeface="Times New Roman" panose="02020603050405020304" pitchFamily="18" charset="0"/>
                <a:cs typeface="Times New Roman" panose="02020603050405020304" pitchFamily="18" charset="0"/>
              </a:rPr>
              <a:t>Step 2: Load Dataset</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Load retinal fundus images directly from local folders.</a:t>
            </a:r>
          </a:p>
          <a:p>
            <a:pPr algn="just">
              <a:lnSpc>
                <a:spcPct val="100000"/>
              </a:lnSpc>
            </a:pPr>
            <a:r>
              <a:rPr lang="en-US" sz="1800" b="1" dirty="0">
                <a:latin typeface="Times New Roman" panose="02020603050405020304" pitchFamily="18" charset="0"/>
                <a:cs typeface="Times New Roman" panose="02020603050405020304" pitchFamily="18" charset="0"/>
              </a:rPr>
              <a:t>Step 3: Image Preprocessing</a:t>
            </a: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Resize image to standard dimensions</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Remove noise and enhance contrast</a:t>
            </a:r>
          </a:p>
          <a:p>
            <a:pPr algn="just">
              <a:lnSpc>
                <a:spcPct val="100000"/>
              </a:lnSpc>
            </a:pPr>
            <a:r>
              <a:rPr lang="en-US" sz="1800" b="1" dirty="0">
                <a:latin typeface="Times New Roman" panose="02020603050405020304" pitchFamily="18" charset="0"/>
                <a:cs typeface="Times New Roman" panose="02020603050405020304" pitchFamily="18" charset="0"/>
              </a:rPr>
              <a:t>Step 4: Split Dataset</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Divide images into training and testing sets.</a:t>
            </a:r>
          </a:p>
          <a:p>
            <a:pPr algn="just">
              <a:lnSpc>
                <a:spcPct val="100000"/>
              </a:lnSpc>
            </a:pPr>
            <a:r>
              <a:rPr lang="en-US" sz="1800" b="1" dirty="0">
                <a:latin typeface="Times New Roman" panose="02020603050405020304" pitchFamily="18" charset="0"/>
                <a:cs typeface="Times New Roman" panose="02020603050405020304" pitchFamily="18" charset="0"/>
              </a:rPr>
              <a:t>Step 5: Build CNN Model</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Convolution layers</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latin typeface="Times New Roman" panose="02020603050405020304" pitchFamily="18" charset="0"/>
              <a:cs typeface="Times New Roman" panose="02020603050405020304" pitchFamily="18" charset="0"/>
            </a:endParaRPr>
          </a:p>
          <a:p>
            <a:endParaRPr lang="en-IN" sz="2400" dirty="0"/>
          </a:p>
        </p:txBody>
      </p:sp>
      <p:sp>
        <p:nvSpPr>
          <p:cNvPr id="5" name="Slide Number Placeholder 4">
            <a:extLst>
              <a:ext uri="{FF2B5EF4-FFF2-40B4-BE49-F238E27FC236}">
                <a16:creationId xmlns:a16="http://schemas.microsoft.com/office/drawing/2014/main" id="{461A29DC-38D0-D1B7-11E3-EC2C6447AA60}"/>
              </a:ext>
            </a:extLst>
          </p:cNvPr>
          <p:cNvSpPr>
            <a:spLocks noGrp="1"/>
          </p:cNvSpPr>
          <p:nvPr>
            <p:ph type="sldNum" sz="quarter" idx="12"/>
          </p:nvPr>
        </p:nvSpPr>
        <p:spPr/>
        <p:txBody>
          <a:bodyPr/>
          <a:lstStyle/>
          <a:p>
            <a:pPr>
              <a:defRPr/>
            </a:pPr>
            <a:fld id="{45FA3DB3-7000-46D7-8858-7CC600A9A651}" type="slidenum">
              <a:rPr lang="en-US" altLang="en-US" smtClean="0"/>
              <a:pPr>
                <a:defRPr/>
              </a:pPr>
              <a:t>14</a:t>
            </a:fld>
            <a:endParaRPr lang="en-US" altLang="en-US"/>
          </a:p>
        </p:txBody>
      </p:sp>
    </p:spTree>
    <p:extLst>
      <p:ext uri="{BB962C8B-B14F-4D97-AF65-F5344CB8AC3E}">
        <p14:creationId xmlns:p14="http://schemas.microsoft.com/office/powerpoint/2010/main" val="1134828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286A98-328D-4833-DE85-95393A8C486B}"/>
              </a:ext>
            </a:extLst>
          </p:cNvPr>
          <p:cNvSpPr>
            <a:spLocks noGrp="1"/>
          </p:cNvSpPr>
          <p:nvPr>
            <p:ph idx="1"/>
          </p:nvPr>
        </p:nvSpPr>
        <p:spPr>
          <a:xfrm>
            <a:off x="838200" y="774441"/>
            <a:ext cx="10515600" cy="5402522"/>
          </a:xfrm>
        </p:spPr>
        <p:txBody>
          <a:bodyPr/>
          <a:lstStyle/>
          <a:p>
            <a:pPr algn="just">
              <a:lnSpc>
                <a:spcPct val="100000"/>
              </a:lnSpc>
            </a:pPr>
            <a:r>
              <a:rPr lang="en-US" sz="1800" dirty="0">
                <a:latin typeface="Times New Roman" panose="02020603050405020304" pitchFamily="18" charset="0"/>
                <a:cs typeface="Times New Roman" panose="02020603050405020304" pitchFamily="18" charset="0"/>
              </a:rPr>
              <a:t>Activation function </a:t>
            </a:r>
          </a:p>
          <a:p>
            <a:pPr algn="just">
              <a:lnSpc>
                <a:spcPct val="100000"/>
              </a:lnSpc>
            </a:pPr>
            <a:r>
              <a:rPr lang="en-US" sz="1800" dirty="0">
                <a:latin typeface="Times New Roman" panose="02020603050405020304" pitchFamily="18" charset="0"/>
                <a:cs typeface="Times New Roman" panose="02020603050405020304" pitchFamily="18" charset="0"/>
              </a:rPr>
              <a:t>Max pooling layers</a:t>
            </a:r>
          </a:p>
          <a:p>
            <a:pPr algn="just">
              <a:lnSpc>
                <a:spcPct val="100000"/>
              </a:lnSpc>
            </a:pPr>
            <a:r>
              <a:rPr lang="en-US" sz="1800" dirty="0">
                <a:latin typeface="Times New Roman" panose="02020603050405020304" pitchFamily="18" charset="0"/>
                <a:cs typeface="Times New Roman" panose="02020603050405020304" pitchFamily="18" charset="0"/>
              </a:rPr>
              <a:t>Fully connected layers</a:t>
            </a:r>
          </a:p>
          <a:p>
            <a:pPr algn="just">
              <a:lnSpc>
                <a:spcPct val="100000"/>
              </a:lnSpc>
            </a:pPr>
            <a:r>
              <a:rPr lang="en-US" sz="1800" b="1" dirty="0">
                <a:latin typeface="Times New Roman" panose="02020603050405020304" pitchFamily="18" charset="0"/>
                <a:cs typeface="Times New Roman" panose="02020603050405020304" pitchFamily="18" charset="0"/>
              </a:rPr>
              <a:t>Step 6: Train Model</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Train the CNN model using training images and corresponding labels.</a:t>
            </a:r>
          </a:p>
          <a:p>
            <a:pPr algn="just">
              <a:lnSpc>
                <a:spcPct val="100000"/>
              </a:lnSpc>
            </a:pPr>
            <a:r>
              <a:rPr lang="en-US" sz="1800" b="1" dirty="0">
                <a:latin typeface="Times New Roman" panose="02020603050405020304" pitchFamily="18" charset="0"/>
                <a:cs typeface="Times New Roman" panose="02020603050405020304" pitchFamily="18" charset="0"/>
              </a:rPr>
              <a:t>Step 8: Test Model</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Evaluate the model using test images.</a:t>
            </a:r>
          </a:p>
          <a:p>
            <a:pPr algn="just">
              <a:lnSpc>
                <a:spcPct val="100000"/>
              </a:lnSpc>
            </a:pPr>
            <a:r>
              <a:rPr lang="en-US" sz="1800" b="1" dirty="0">
                <a:latin typeface="Times New Roman" panose="02020603050405020304" pitchFamily="18" charset="0"/>
                <a:cs typeface="Times New Roman" panose="02020603050405020304" pitchFamily="18" charset="0"/>
              </a:rPr>
              <a:t>Step 9: Performance Evaluation</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Accuracy and percentage </a:t>
            </a:r>
          </a:p>
          <a:p>
            <a:pPr algn="just">
              <a:lnSpc>
                <a:spcPct val="100000"/>
              </a:lnSpc>
            </a:pPr>
            <a:r>
              <a:rPr lang="en-US" sz="1800" b="1" dirty="0">
                <a:latin typeface="Times New Roman" panose="02020603050405020304" pitchFamily="18" charset="0"/>
                <a:cs typeface="Times New Roman" panose="02020603050405020304" pitchFamily="18" charset="0"/>
              </a:rPr>
              <a:t>Step 10: Classification</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Normal or Diabetic Retinopathy</a:t>
            </a:r>
          </a:p>
          <a:p>
            <a:pPr algn="just">
              <a:lnSpc>
                <a:spcPct val="100000"/>
              </a:lnSpc>
            </a:pPr>
            <a:r>
              <a:rPr lang="en-US" sz="1800" b="1" dirty="0">
                <a:latin typeface="Times New Roman" panose="02020603050405020304" pitchFamily="18" charset="0"/>
                <a:cs typeface="Times New Roman" panose="02020603050405020304" pitchFamily="18" charset="0"/>
              </a:rPr>
              <a:t>Step 11: Display Result</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Display the prediction output to the console</a:t>
            </a:r>
          </a:p>
          <a:p>
            <a:pPr marL="0" indent="0" algn="just">
              <a:lnSpc>
                <a:spcPct val="10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0FFC760-6011-AD9F-5C59-A57EE56DC260}"/>
              </a:ext>
            </a:extLst>
          </p:cNvPr>
          <p:cNvSpPr>
            <a:spLocks noGrp="1"/>
          </p:cNvSpPr>
          <p:nvPr>
            <p:ph type="sldNum" sz="quarter" idx="12"/>
          </p:nvPr>
        </p:nvSpPr>
        <p:spPr/>
        <p:txBody>
          <a:bodyPr/>
          <a:lstStyle/>
          <a:p>
            <a:pPr>
              <a:defRPr/>
            </a:pPr>
            <a:fld id="{45FA3DB3-7000-46D7-8858-7CC600A9A651}" type="slidenum">
              <a:rPr lang="en-US" altLang="en-US" smtClean="0"/>
              <a:pPr>
                <a:defRPr/>
              </a:pPr>
              <a:t>15</a:t>
            </a:fld>
            <a:endParaRPr lang="en-US" altLang="en-US"/>
          </a:p>
        </p:txBody>
      </p:sp>
    </p:spTree>
    <p:extLst>
      <p:ext uri="{BB962C8B-B14F-4D97-AF65-F5344CB8AC3E}">
        <p14:creationId xmlns:p14="http://schemas.microsoft.com/office/powerpoint/2010/main" val="4221620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0FF20-E980-719C-3228-66635823F6EF}"/>
              </a:ext>
            </a:extLst>
          </p:cNvPr>
          <p:cNvSpPr>
            <a:spLocks noGrp="1"/>
          </p:cNvSpPr>
          <p:nvPr>
            <p:ph type="title"/>
          </p:nvPr>
        </p:nvSpPr>
        <p:spPr/>
        <p:txBody>
          <a:bodyPr/>
          <a:lstStyle/>
          <a:p>
            <a:pPr algn="ctr"/>
            <a:r>
              <a:rPr lang="en-IN" sz="3600" dirty="0">
                <a:latin typeface="Times New Roman" panose="02020603050405020304" pitchFamily="18" charset="0"/>
                <a:cs typeface="Times New Roman" panose="02020603050405020304" pitchFamily="18" charset="0"/>
              </a:rPr>
              <a:t>RESULT</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B15E4F5-1AB6-9FBB-FA73-57B8769971AE}"/>
              </a:ext>
            </a:extLst>
          </p:cNvPr>
          <p:cNvPicPr>
            <a:picLocks noGrp="1" noChangeAspect="1"/>
          </p:cNvPicPr>
          <p:nvPr>
            <p:ph idx="1"/>
          </p:nvPr>
        </p:nvPicPr>
        <p:blipFill>
          <a:blip r:embed="rId2"/>
          <a:stretch>
            <a:fillRect/>
          </a:stretch>
        </p:blipFill>
        <p:spPr>
          <a:xfrm>
            <a:off x="2209800" y="1690687"/>
            <a:ext cx="7326086" cy="3428331"/>
          </a:xfrm>
        </p:spPr>
      </p:pic>
      <p:sp>
        <p:nvSpPr>
          <p:cNvPr id="5" name="Slide Number Placeholder 4">
            <a:extLst>
              <a:ext uri="{FF2B5EF4-FFF2-40B4-BE49-F238E27FC236}">
                <a16:creationId xmlns:a16="http://schemas.microsoft.com/office/drawing/2014/main" id="{21F720A8-E649-043C-79A3-F8C4887593E9}"/>
              </a:ext>
            </a:extLst>
          </p:cNvPr>
          <p:cNvSpPr>
            <a:spLocks noGrp="1"/>
          </p:cNvSpPr>
          <p:nvPr>
            <p:ph type="sldNum" sz="quarter" idx="12"/>
          </p:nvPr>
        </p:nvSpPr>
        <p:spPr/>
        <p:txBody>
          <a:bodyPr/>
          <a:lstStyle/>
          <a:p>
            <a:pPr>
              <a:defRPr/>
            </a:pPr>
            <a:fld id="{45FA3DB3-7000-46D7-8858-7CC600A9A651}" type="slidenum">
              <a:rPr lang="en-US" altLang="en-US" smtClean="0"/>
              <a:pPr>
                <a:defRPr/>
              </a:pPr>
              <a:t>16</a:t>
            </a:fld>
            <a:endParaRPr lang="en-US" altLang="en-US"/>
          </a:p>
        </p:txBody>
      </p:sp>
    </p:spTree>
    <p:extLst>
      <p:ext uri="{BB962C8B-B14F-4D97-AF65-F5344CB8AC3E}">
        <p14:creationId xmlns:p14="http://schemas.microsoft.com/office/powerpoint/2010/main" val="123237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FA618A21-4415-FB06-74C0-368AEDED12EC}"/>
              </a:ext>
            </a:extLst>
          </p:cNvPr>
          <p:cNvPicPr>
            <a:picLocks noGrp="1" noChangeAspect="1"/>
          </p:cNvPicPr>
          <p:nvPr>
            <p:ph sz="half" idx="2"/>
          </p:nvPr>
        </p:nvPicPr>
        <p:blipFill>
          <a:blip r:embed="rId2"/>
          <a:stretch>
            <a:fillRect/>
          </a:stretch>
        </p:blipFill>
        <p:spPr>
          <a:xfrm>
            <a:off x="6172200" y="1690688"/>
            <a:ext cx="5181600" cy="4016608"/>
          </a:xfrm>
        </p:spPr>
      </p:pic>
      <p:sp>
        <p:nvSpPr>
          <p:cNvPr id="5" name="Slide Number Placeholder 4">
            <a:extLst>
              <a:ext uri="{FF2B5EF4-FFF2-40B4-BE49-F238E27FC236}">
                <a16:creationId xmlns:a16="http://schemas.microsoft.com/office/drawing/2014/main" id="{D3438AF8-744F-8442-7DAA-BE42D2277289}"/>
              </a:ext>
            </a:extLst>
          </p:cNvPr>
          <p:cNvSpPr>
            <a:spLocks noGrp="1"/>
          </p:cNvSpPr>
          <p:nvPr>
            <p:ph type="sldNum" sz="quarter" idx="12"/>
          </p:nvPr>
        </p:nvSpPr>
        <p:spPr/>
        <p:txBody>
          <a:bodyPr/>
          <a:lstStyle/>
          <a:p>
            <a:pPr>
              <a:defRPr/>
            </a:pPr>
            <a:fld id="{45FA3DB3-7000-46D7-8858-7CC600A9A651}" type="slidenum">
              <a:rPr lang="en-US" altLang="en-US" smtClean="0"/>
              <a:pPr>
                <a:defRPr/>
              </a:pPr>
              <a:t>17</a:t>
            </a:fld>
            <a:endParaRPr lang="en-US" altLang="en-US"/>
          </a:p>
        </p:txBody>
      </p:sp>
      <p:pic>
        <p:nvPicPr>
          <p:cNvPr id="13" name="Content Placeholder 12">
            <a:extLst>
              <a:ext uri="{FF2B5EF4-FFF2-40B4-BE49-F238E27FC236}">
                <a16:creationId xmlns:a16="http://schemas.microsoft.com/office/drawing/2014/main" id="{66BC586A-C65E-1014-EFE2-D84DFAA68BFF}"/>
              </a:ext>
            </a:extLst>
          </p:cNvPr>
          <p:cNvPicPr>
            <a:picLocks noGrp="1" noChangeAspect="1"/>
          </p:cNvPicPr>
          <p:nvPr>
            <p:ph sz="half" idx="1"/>
          </p:nvPr>
        </p:nvPicPr>
        <p:blipFill>
          <a:blip r:embed="rId3"/>
          <a:stretch>
            <a:fillRect/>
          </a:stretch>
        </p:blipFill>
        <p:spPr>
          <a:xfrm>
            <a:off x="838200" y="2194325"/>
            <a:ext cx="5181600" cy="2811505"/>
          </a:xfrm>
        </p:spPr>
      </p:pic>
    </p:spTree>
    <p:extLst>
      <p:ext uri="{BB962C8B-B14F-4D97-AF65-F5344CB8AC3E}">
        <p14:creationId xmlns:p14="http://schemas.microsoft.com/office/powerpoint/2010/main" val="1659381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8EABD-6DE4-2E4A-591D-A6956140B0BA}"/>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BD897C18-D15B-46E0-DADC-CE6EA40D2A2D}"/>
              </a:ext>
            </a:extLst>
          </p:cNvPr>
          <p:cNvPicPr>
            <a:picLocks noGrp="1" noChangeAspect="1"/>
          </p:cNvPicPr>
          <p:nvPr>
            <p:ph sz="half" idx="1"/>
          </p:nvPr>
        </p:nvPicPr>
        <p:blipFill>
          <a:blip r:embed="rId2"/>
          <a:stretch>
            <a:fillRect/>
          </a:stretch>
        </p:blipFill>
        <p:spPr>
          <a:xfrm>
            <a:off x="838200" y="1993642"/>
            <a:ext cx="5181600" cy="4015304"/>
          </a:xfrm>
        </p:spPr>
      </p:pic>
      <p:sp>
        <p:nvSpPr>
          <p:cNvPr id="5" name="Date Placeholder 4">
            <a:extLst>
              <a:ext uri="{FF2B5EF4-FFF2-40B4-BE49-F238E27FC236}">
                <a16:creationId xmlns:a16="http://schemas.microsoft.com/office/drawing/2014/main" id="{89ADFD48-49F4-5A08-2B81-F066E23CEC2A}"/>
              </a:ext>
            </a:extLst>
          </p:cNvPr>
          <p:cNvSpPr>
            <a:spLocks noGrp="1"/>
          </p:cNvSpPr>
          <p:nvPr>
            <p:ph type="dt" sz="half" idx="10"/>
          </p:nvPr>
        </p:nvSpPr>
        <p:spPr/>
        <p:txBody>
          <a:bodyPr/>
          <a:lstStyle/>
          <a:p>
            <a:pPr>
              <a:defRPr/>
            </a:pPr>
            <a:fld id="{8E537502-CF56-4D39-919B-704040108DEE}" type="datetime1">
              <a:rPr lang="en-US" smtClean="0"/>
              <a:pPr>
                <a:defRPr/>
              </a:pPr>
              <a:t>1/8/2026</a:t>
            </a:fld>
            <a:endParaRPr lang="en-US"/>
          </a:p>
        </p:txBody>
      </p:sp>
      <p:sp>
        <p:nvSpPr>
          <p:cNvPr id="6" name="Slide Number Placeholder 5">
            <a:extLst>
              <a:ext uri="{FF2B5EF4-FFF2-40B4-BE49-F238E27FC236}">
                <a16:creationId xmlns:a16="http://schemas.microsoft.com/office/drawing/2014/main" id="{28567419-5736-E061-719B-92F3F404C6DC}"/>
              </a:ext>
            </a:extLst>
          </p:cNvPr>
          <p:cNvSpPr>
            <a:spLocks noGrp="1"/>
          </p:cNvSpPr>
          <p:nvPr>
            <p:ph type="sldNum" sz="quarter" idx="12"/>
          </p:nvPr>
        </p:nvSpPr>
        <p:spPr/>
        <p:txBody>
          <a:bodyPr/>
          <a:lstStyle/>
          <a:p>
            <a:pPr>
              <a:defRPr/>
            </a:pPr>
            <a:fld id="{E68DE2F1-85F5-4E86-BD24-0972BBFE721B}" type="slidenum">
              <a:rPr lang="en-US" altLang="en-US" smtClean="0"/>
              <a:pPr>
                <a:defRPr/>
              </a:pPr>
              <a:t>18</a:t>
            </a:fld>
            <a:endParaRPr lang="en-US" altLang="en-US"/>
          </a:p>
        </p:txBody>
      </p:sp>
      <p:pic>
        <p:nvPicPr>
          <p:cNvPr id="13" name="Content Placeholder 12">
            <a:extLst>
              <a:ext uri="{FF2B5EF4-FFF2-40B4-BE49-F238E27FC236}">
                <a16:creationId xmlns:a16="http://schemas.microsoft.com/office/drawing/2014/main" id="{C445EF6E-0EFD-766E-20BC-8125CE61737F}"/>
              </a:ext>
            </a:extLst>
          </p:cNvPr>
          <p:cNvPicPr>
            <a:picLocks noGrp="1" noChangeAspect="1"/>
          </p:cNvPicPr>
          <p:nvPr>
            <p:ph sz="half" idx="2"/>
          </p:nvPr>
        </p:nvPicPr>
        <p:blipFill>
          <a:blip r:embed="rId3"/>
          <a:stretch>
            <a:fillRect/>
          </a:stretch>
        </p:blipFill>
        <p:spPr>
          <a:xfrm>
            <a:off x="7065358" y="1825625"/>
            <a:ext cx="3395283" cy="4351338"/>
          </a:xfrm>
        </p:spPr>
      </p:pic>
    </p:spTree>
    <p:extLst>
      <p:ext uri="{BB962C8B-B14F-4D97-AF65-F5344CB8AC3E}">
        <p14:creationId xmlns:p14="http://schemas.microsoft.com/office/powerpoint/2010/main" val="144210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FAD6717-2DDA-69BE-2FEE-E899439B5D14}"/>
              </a:ext>
            </a:extLst>
          </p:cNvPr>
          <p:cNvSpPr>
            <a:spLocks noGrp="1" noChangeArrowheads="1"/>
          </p:cNvSpPr>
          <p:nvPr>
            <p:ph type="title"/>
          </p:nvPr>
        </p:nvSpPr>
        <p:spPr/>
        <p:txBody>
          <a:bodyPr/>
          <a:lstStyle/>
          <a:p>
            <a:r>
              <a:rPr lang="en-US" altLang="en-US" sz="4000" dirty="0">
                <a:latin typeface="Times New Roman" panose="02020603050405020304" pitchFamily="18" charset="0"/>
                <a:cs typeface="Times New Roman" panose="02020603050405020304" pitchFamily="18" charset="0"/>
              </a:rPr>
              <a:t>Conclusion and Future Enhancement</a:t>
            </a:r>
            <a:br>
              <a:rPr lang="en-US" altLang="en-US" dirty="0"/>
            </a:br>
            <a:endParaRPr lang="en-IN" altLang="en-US" dirty="0"/>
          </a:p>
        </p:txBody>
      </p:sp>
      <p:sp>
        <p:nvSpPr>
          <p:cNvPr id="12292" name="Slide Number Placeholder 4">
            <a:extLst>
              <a:ext uri="{FF2B5EF4-FFF2-40B4-BE49-F238E27FC236}">
                <a16:creationId xmlns:a16="http://schemas.microsoft.com/office/drawing/2014/main" id="{4A78BA7D-5FA7-AD22-4A3D-FD1F824B8BE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D074ECE3-84E1-4910-99FE-3C29E5A85097}" type="slidenum">
              <a:rPr lang="en-US" altLang="en-US" sz="1200" smtClean="0">
                <a:solidFill>
                  <a:srgbClr val="898989"/>
                </a:solidFill>
              </a:rPr>
              <a:pPr>
                <a:lnSpc>
                  <a:spcPct val="100000"/>
                </a:lnSpc>
                <a:spcBef>
                  <a:spcPct val="0"/>
                </a:spcBef>
                <a:buFontTx/>
                <a:buNone/>
              </a:pPr>
              <a:t>19</a:t>
            </a:fld>
            <a:endParaRPr lang="en-US" altLang="en-US" sz="1200">
              <a:solidFill>
                <a:srgbClr val="898989"/>
              </a:solidFill>
            </a:endParaRPr>
          </a:p>
        </p:txBody>
      </p:sp>
      <p:sp>
        <p:nvSpPr>
          <p:cNvPr id="12293" name="Rectangle 1">
            <a:extLst>
              <a:ext uri="{FF2B5EF4-FFF2-40B4-BE49-F238E27FC236}">
                <a16:creationId xmlns:a16="http://schemas.microsoft.com/office/drawing/2014/main" id="{557508C3-E2FA-58BD-DE3F-37BDD3D8F784}"/>
              </a:ext>
            </a:extLst>
          </p:cNvPr>
          <p:cNvSpPr>
            <a:spLocks noGrp="1" noChangeArrowheads="1"/>
          </p:cNvSpPr>
          <p:nvPr>
            <p:ph idx="1"/>
          </p:nvPr>
        </p:nvSpPr>
        <p:spPr>
          <a:xfrm>
            <a:off x="577850" y="1189668"/>
            <a:ext cx="9265946" cy="474597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50000"/>
              </a:lnSpc>
              <a:spcBef>
                <a:spcPct val="0"/>
              </a:spcBef>
              <a:buNone/>
            </a:pPr>
            <a:r>
              <a:rPr lang="en-US" altLang="en-US" sz="2200" b="1" dirty="0">
                <a:latin typeface="Times New Roman" panose="02020603050405020304" pitchFamily="18" charset="0"/>
                <a:cs typeface="Times New Roman" panose="02020603050405020304" pitchFamily="18" charset="0"/>
              </a:rPr>
              <a:t>Conclusion</a:t>
            </a:r>
            <a:r>
              <a:rPr lang="en-US" altLang="en-US" sz="2200" dirty="0">
                <a:latin typeface="Times New Roman" panose="02020603050405020304" pitchFamily="18" charset="0"/>
                <a:cs typeface="Times New Roman" panose="02020603050405020304" pitchFamily="18" charset="0"/>
              </a:rPr>
              <a:t>:</a:t>
            </a:r>
          </a:p>
          <a:p>
            <a:pPr marL="0" indent="0" algn="just">
              <a:lnSpc>
                <a:spcPct val="150000"/>
              </a:lnSpc>
              <a:spcBef>
                <a:spcPct val="0"/>
              </a:spcBef>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CNN-based models effectively detect diabetic retinopathy from retinal images, fast and accurate diagnosis support. This reduces dependency on specialists and promotes early detection, crucial for preventing vision loss.</a:t>
            </a:r>
          </a:p>
          <a:p>
            <a:pPr marL="0" indent="0">
              <a:lnSpc>
                <a:spcPct val="150000"/>
              </a:lnSpc>
              <a:spcBef>
                <a:spcPct val="0"/>
              </a:spcBef>
              <a:buNone/>
            </a:pPr>
            <a:r>
              <a:rPr lang="en-US" altLang="en-US" sz="2200" b="1" dirty="0">
                <a:latin typeface="Times New Roman" panose="02020603050405020304" pitchFamily="18" charset="0"/>
                <a:cs typeface="Times New Roman" panose="02020603050405020304" pitchFamily="18" charset="0"/>
              </a:rPr>
              <a:t> Future Enhancements</a:t>
            </a:r>
            <a:r>
              <a:rPr lang="en-US" altLang="en-US" sz="2200" dirty="0">
                <a:latin typeface="Times New Roman" panose="02020603050405020304" pitchFamily="18" charset="0"/>
                <a:cs typeface="Times New Roman" panose="02020603050405020304" pitchFamily="18" charset="0"/>
              </a:rPr>
              <a:t>:</a:t>
            </a:r>
          </a:p>
          <a:p>
            <a:pPr marL="0" indent="0">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Use larger, diverse datasets for better accuracy</a:t>
            </a:r>
          </a:p>
          <a:p>
            <a:pPr marL="0" indent="0">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Add explainable AI tools for model transparency</a:t>
            </a:r>
          </a:p>
          <a:p>
            <a:pPr marL="0" indent="0">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Extend to detect multiple eye diseases</a:t>
            </a:r>
          </a:p>
          <a:p>
            <a:pPr marL="0" indent="0">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Develop mobile-friendly, </a:t>
            </a:r>
          </a:p>
          <a:p>
            <a:pPr marL="0" indent="0">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Enable cloud-based remote screening and diagnosis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C99C8-069E-117F-F381-3D1907C5D654}"/>
              </a:ext>
            </a:extLst>
          </p:cNvPr>
          <p:cNvSpPr>
            <a:spLocks noGrp="1"/>
          </p:cNvSpPr>
          <p:nvPr>
            <p:ph type="title"/>
          </p:nvPr>
        </p:nvSpPr>
        <p:spPr/>
        <p:txBody>
          <a:bodyPr/>
          <a:lstStyle/>
          <a:p>
            <a:r>
              <a:rPr lang="en-US" altLang="en-US" sz="3200" dirty="0">
                <a:latin typeface="Times New Roman" panose="02020603050405020304" pitchFamily="18" charset="0"/>
                <a:cs typeface="Times New Roman" panose="02020603050405020304" pitchFamily="18" charset="0"/>
              </a:rPr>
              <a:t>REFERENCES</a:t>
            </a:r>
            <a:endParaRPr lang="en-IN" sz="3200" dirty="0"/>
          </a:p>
        </p:txBody>
      </p:sp>
      <p:sp>
        <p:nvSpPr>
          <p:cNvPr id="3" name="Content Placeholder 2">
            <a:extLst>
              <a:ext uri="{FF2B5EF4-FFF2-40B4-BE49-F238E27FC236}">
                <a16:creationId xmlns:a16="http://schemas.microsoft.com/office/drawing/2014/main" id="{A687EB55-E1CF-CD69-919F-0F254AA52764}"/>
              </a:ext>
            </a:extLst>
          </p:cNvPr>
          <p:cNvSpPr>
            <a:spLocks noGrp="1"/>
          </p:cNvSpPr>
          <p:nvPr>
            <p:ph idx="1"/>
          </p:nvPr>
        </p:nvSpPr>
        <p:spPr/>
        <p:txBody>
          <a:bodyPr/>
          <a:lstStyle/>
          <a:p>
            <a:pPr marL="0" indent="0">
              <a:lnSpc>
                <a:spcPct val="150000"/>
              </a:lnSpc>
              <a:buNone/>
            </a:pPr>
            <a:r>
              <a:rPr lang="en-IN" sz="1800" dirty="0">
                <a:latin typeface="Times New Roman" panose="02020603050405020304" pitchFamily="18" charset="0"/>
                <a:cs typeface="Times New Roman" panose="02020603050405020304" pitchFamily="18" charset="0"/>
              </a:rPr>
              <a:t>[1]. Gulshan, V., Peng, L., Coram, M., et al., “Development and Validation of a Deep Learning Algorithm for Detection of Diabetic Retinopathy in Retinal Fundus Photographs,” Journal of the American Medical Association (JAMA), Vol. 316, No. 22, pp. 2402–2410, 2016. </a:t>
            </a:r>
          </a:p>
          <a:p>
            <a:pPr marL="0" indent="0">
              <a:lnSpc>
                <a:spcPct val="150000"/>
              </a:lnSpc>
              <a:buNone/>
            </a:pPr>
            <a:r>
              <a:rPr lang="en-IN" sz="1800" dirty="0">
                <a:latin typeface="Times New Roman" panose="02020603050405020304" pitchFamily="18" charset="0"/>
                <a:cs typeface="Times New Roman" panose="02020603050405020304" pitchFamily="18" charset="0"/>
              </a:rPr>
              <a:t>[2]. Pratt, H., Coenen, F., Broadbent, D. M., Harding, S. P., and Zheng, Y., “Convolutional Neural Networks for Diabetic Retinopathy,” Procedia Computer Science, Vol. 90, pp. 200–205, 2016.</a:t>
            </a:r>
          </a:p>
          <a:p>
            <a:pPr marL="0" indent="0">
              <a:lnSpc>
                <a:spcPct val="150000"/>
              </a:lnSpc>
              <a:buNone/>
            </a:pPr>
            <a:r>
              <a:rPr lang="en-IN" sz="1800" dirty="0">
                <a:latin typeface="Times New Roman" panose="020206030504050203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Lam, C., Yu, C., Huang, L., and Rubin, D., “Retinal Lesion Detection With Deep Learning Using Image Patches,” Investigative Ophthalmology &amp; Visual Science, Vol. 59, No. 1, pp. 590-596, 2018</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6259965-A773-1569-1777-CE09ACC4CC61}"/>
              </a:ext>
            </a:extLst>
          </p:cNvPr>
          <p:cNvSpPr>
            <a:spLocks noGrp="1"/>
          </p:cNvSpPr>
          <p:nvPr>
            <p:ph type="dt" sz="half" idx="10"/>
          </p:nvPr>
        </p:nvSpPr>
        <p:spPr/>
        <p:txBody>
          <a:bodyPr/>
          <a:lstStyle/>
          <a:p>
            <a:pPr>
              <a:defRPr/>
            </a:pPr>
            <a:fld id="{316D0323-47A1-4CBA-A7A6-047F6ED8E5FE}" type="datetime1">
              <a:rPr lang="en-US" smtClean="0"/>
              <a:pPr>
                <a:defRPr/>
              </a:pPr>
              <a:t>1/8/2026</a:t>
            </a:fld>
            <a:endParaRPr lang="en-US"/>
          </a:p>
        </p:txBody>
      </p:sp>
      <p:sp>
        <p:nvSpPr>
          <p:cNvPr id="5" name="Slide Number Placeholder 4">
            <a:extLst>
              <a:ext uri="{FF2B5EF4-FFF2-40B4-BE49-F238E27FC236}">
                <a16:creationId xmlns:a16="http://schemas.microsoft.com/office/drawing/2014/main" id="{FC94CCF4-426E-0AA2-0DED-4C3255285178}"/>
              </a:ext>
            </a:extLst>
          </p:cNvPr>
          <p:cNvSpPr>
            <a:spLocks noGrp="1"/>
          </p:cNvSpPr>
          <p:nvPr>
            <p:ph type="sldNum" sz="quarter" idx="12"/>
          </p:nvPr>
        </p:nvSpPr>
        <p:spPr/>
        <p:txBody>
          <a:bodyPr/>
          <a:lstStyle/>
          <a:p>
            <a:pPr>
              <a:defRPr/>
            </a:pPr>
            <a:fld id="{45FA3DB3-7000-46D7-8858-7CC600A9A651}" type="slidenum">
              <a:rPr lang="en-US" altLang="en-US" smtClean="0"/>
              <a:pPr>
                <a:defRPr/>
              </a:pPr>
              <a:t>20</a:t>
            </a:fld>
            <a:endParaRPr lang="en-US" altLang="en-US"/>
          </a:p>
        </p:txBody>
      </p:sp>
    </p:spTree>
    <p:extLst>
      <p:ext uri="{BB962C8B-B14F-4D97-AF65-F5344CB8AC3E}">
        <p14:creationId xmlns:p14="http://schemas.microsoft.com/office/powerpoint/2010/main" val="266519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BF7929-44CA-BBB9-3A23-9F65E826338F}"/>
              </a:ext>
            </a:extLst>
          </p:cNvPr>
          <p:cNvSpPr/>
          <p:nvPr/>
        </p:nvSpPr>
        <p:spPr>
          <a:xfrm>
            <a:off x="1266197" y="2601575"/>
            <a:ext cx="9513310" cy="1862048"/>
          </a:xfrm>
          <a:prstGeom prst="rect">
            <a:avLst/>
          </a:prstGeom>
          <a:noFill/>
        </p:spPr>
        <p:txBody>
          <a:bodyPr wrap="none">
            <a:spAutoFit/>
          </a:bodyPr>
          <a:lstStyle/>
          <a:p>
            <a:pPr algn="ctr" eaLnBrk="1" fontAlgn="auto" hangingPunct="1">
              <a:spcBef>
                <a:spcPts val="0"/>
              </a:spcBef>
              <a:spcAft>
                <a:spcPts val="0"/>
              </a:spcAft>
              <a:defRPr/>
            </a:pPr>
            <a:r>
              <a:rPr lang="en-US" sz="115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lt"/>
              </a:rPr>
              <a:t>THANK YOU</a:t>
            </a:r>
          </a:p>
        </p:txBody>
      </p:sp>
      <p:sp>
        <p:nvSpPr>
          <p:cNvPr id="14339" name="Date Placeholder 5">
            <a:extLst>
              <a:ext uri="{FF2B5EF4-FFF2-40B4-BE49-F238E27FC236}">
                <a16:creationId xmlns:a16="http://schemas.microsoft.com/office/drawing/2014/main" id="{E6D7CC80-45F0-C501-B572-473ABF993D55}"/>
              </a:ext>
            </a:extLst>
          </p:cNvPr>
          <p:cNvSpPr>
            <a:spLocks noGrp="1" noChangeArrowheads="1"/>
          </p:cNvSpPr>
          <p:nvPr>
            <p:ph type="dt" sz="quarter" idx="10"/>
          </p:nvPr>
        </p:nvSpPr>
        <p:spPr bwMode="auto">
          <a:xfrm>
            <a:off x="7834313" y="6315075"/>
            <a:ext cx="284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1ECF274-C9CD-4054-978D-321664CF512A}" type="datetime1">
              <a:rPr lang="en-US" altLang="en-US" sz="1200" smtClean="0">
                <a:solidFill>
                  <a:schemeClr val="accent2"/>
                </a:solidFill>
                <a:latin typeface="Gill Sans MT" panose="020B0502020104020203" pitchFamily="34" charset="0"/>
              </a:rPr>
              <a:pPr fontAlgn="base">
                <a:lnSpc>
                  <a:spcPct val="100000"/>
                </a:lnSpc>
                <a:spcBef>
                  <a:spcPct val="0"/>
                </a:spcBef>
                <a:spcAft>
                  <a:spcPct val="0"/>
                </a:spcAft>
                <a:buFontTx/>
                <a:buNone/>
              </a:pPr>
              <a:t>1/8/2026</a:t>
            </a:fld>
            <a:endParaRPr lang="en-US" altLang="en-US" sz="1200">
              <a:solidFill>
                <a:schemeClr val="accent2"/>
              </a:solidFill>
              <a:latin typeface="Gill Sans MT" panose="020B0502020104020203" pitchFamily="34" charset="0"/>
            </a:endParaRPr>
          </a:p>
        </p:txBody>
      </p:sp>
      <p:sp>
        <p:nvSpPr>
          <p:cNvPr id="14340" name="Slide Number Placeholder 6">
            <a:extLst>
              <a:ext uri="{FF2B5EF4-FFF2-40B4-BE49-F238E27FC236}">
                <a16:creationId xmlns:a16="http://schemas.microsoft.com/office/drawing/2014/main" id="{4EE1418B-BB98-1CD3-B9C5-25D8D04252CD}"/>
              </a:ext>
            </a:extLst>
          </p:cNvPr>
          <p:cNvSpPr>
            <a:spLocks noGrp="1" noChangeArrowheads="1"/>
          </p:cNvSpPr>
          <p:nvPr>
            <p:ph type="sldNum" sz="quarter" idx="12"/>
          </p:nvPr>
        </p:nvSpPr>
        <p:spPr bwMode="auto">
          <a:xfrm>
            <a:off x="10679113" y="6315075"/>
            <a:ext cx="1052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6CEF8229-A290-40F5-A5B8-EE3EFDCCF2FC}" type="slidenum">
              <a:rPr lang="en-US" altLang="en-US" sz="1200" smtClean="0">
                <a:solidFill>
                  <a:schemeClr val="accent2"/>
                </a:solidFill>
                <a:latin typeface="Gill Sans MT" panose="020B0502020104020203" pitchFamily="34" charset="0"/>
              </a:rPr>
              <a:pPr>
                <a:lnSpc>
                  <a:spcPct val="100000"/>
                </a:lnSpc>
                <a:spcBef>
                  <a:spcPct val="0"/>
                </a:spcBef>
                <a:buFontTx/>
                <a:buNone/>
              </a:pPr>
              <a:t>21</a:t>
            </a:fld>
            <a:endParaRPr lang="en-US" altLang="en-US" sz="1200">
              <a:solidFill>
                <a:schemeClr val="accent2"/>
              </a:solidFill>
              <a:latin typeface="Gill Sans MT" panose="020B05020201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9576</TotalTime>
  <Words>1275</Words>
  <Application>Microsoft Office PowerPoint</Application>
  <PresentationFormat>Widescreen</PresentationFormat>
  <Paragraphs>152</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Bookman Old Style</vt:lpstr>
      <vt:lpstr>Calibri</vt:lpstr>
      <vt:lpstr>Calibri Light</vt:lpstr>
      <vt:lpstr>Gill Sans MT</vt:lpstr>
      <vt:lpstr>Times New Roman</vt:lpstr>
      <vt:lpstr>Wingdings</vt:lpstr>
      <vt:lpstr>Office Theme</vt:lpstr>
      <vt:lpstr>Department of Computer Science and Engineering  TITLE: AUTOMATIC DETECTION OF DIABETIC RETINOPATHY   USING CNN</vt:lpstr>
      <vt:lpstr>Content </vt:lpstr>
      <vt:lpstr>INTRODUCTION</vt:lpstr>
      <vt:lpstr>Problem statement</vt:lpstr>
      <vt:lpstr>OBJECTIVES </vt:lpstr>
      <vt:lpstr>REQUIREMENT SPECIFICATION</vt:lpstr>
      <vt:lpstr>Block Diagram</vt:lpstr>
      <vt:lpstr> METHODOLOGY </vt:lpstr>
      <vt:lpstr>PowerPoint Presentation</vt:lpstr>
      <vt:lpstr>PowerPoint Presentation</vt:lpstr>
      <vt:lpstr> SYSTEM LEVEL DIAGRAM </vt:lpstr>
      <vt:lpstr>PowerPoint Presentation</vt:lpstr>
      <vt:lpstr>PowerPoint Presentation</vt:lpstr>
      <vt:lpstr>ALGORITHM</vt:lpstr>
      <vt:lpstr>PowerPoint Presentation</vt:lpstr>
      <vt:lpstr>RESULT</vt:lpstr>
      <vt:lpstr>PowerPoint Presentation</vt:lpstr>
      <vt:lpstr>PowerPoint Presentation</vt:lpstr>
      <vt:lpstr>Conclusion and Future Enhancement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Invisible Video Watermarking for Data Integrity and Security based on Discrete Wavelet Transform (DWT)</dc:title>
  <dc:creator>Windows User</dc:creator>
  <cp:lastModifiedBy>kishanmiskin890@outlook.com</cp:lastModifiedBy>
  <cp:revision>730</cp:revision>
  <cp:lastPrinted>2026-01-07T17:40:00Z</cp:lastPrinted>
  <dcterms:created xsi:type="dcterms:W3CDTF">2013-09-04T16:35:22Z</dcterms:created>
  <dcterms:modified xsi:type="dcterms:W3CDTF">2026-01-08T09:40:23Z</dcterms:modified>
</cp:coreProperties>
</file>